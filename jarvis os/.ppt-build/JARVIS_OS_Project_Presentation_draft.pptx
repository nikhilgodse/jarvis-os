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74a490a8b34bce" /><Relationship Type="http://schemas.openxmlformats.org/officeDocument/2006/relationships/extended-properties" Target="/docProps/app.xml" Id="R9098355a5d92446a" /><Relationship Type="http://schemas.openxmlformats.org/officeDocument/2006/relationships/officeDocument" Target="/ppt/presentation.xml" Id="R704994871ae247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d9ff9e91af4650"/>
  </p:sldMasterIdLst>
  <p:notesMasterIdLst>
    <p:notesMasterId xmlns:r="http://schemas.openxmlformats.org/officeDocument/2006/relationships" r:id="Re8194e3a01ee48fb"/>
  </p:notesMasterIdLst>
  <p:sldIdLst>
    <p:sldId xmlns:r="http://schemas.openxmlformats.org/officeDocument/2006/relationships" id="256" r:id="Rfdb064eb2ef3414b"/>
    <p:sldId xmlns:r="http://schemas.openxmlformats.org/officeDocument/2006/relationships" id="257" r:id="Rab1bd74db4b3408a"/>
    <p:sldId xmlns:r="http://schemas.openxmlformats.org/officeDocument/2006/relationships" id="258" r:id="Rc83e54a3eec2476b"/>
    <p:sldId xmlns:r="http://schemas.openxmlformats.org/officeDocument/2006/relationships" id="259" r:id="R2a416447ca8044ec"/>
    <p:sldId xmlns:r="http://schemas.openxmlformats.org/officeDocument/2006/relationships" id="260" r:id="Ra54be5e39bad43b4"/>
    <p:sldId xmlns:r="http://schemas.openxmlformats.org/officeDocument/2006/relationships" id="261" r:id="Raaa247b0bbc64bb0"/>
    <p:sldId xmlns:r="http://schemas.openxmlformats.org/officeDocument/2006/relationships" id="262" r:id="R2cc0911835a740e8"/>
    <p:sldId xmlns:r="http://schemas.openxmlformats.org/officeDocument/2006/relationships" id="263" r:id="R41f90d1e1a3a4718"/>
    <p:sldId xmlns:r="http://schemas.openxmlformats.org/officeDocument/2006/relationships" id="264" r:id="Rf33fb31354964292"/>
    <p:sldId xmlns:r="http://schemas.openxmlformats.org/officeDocument/2006/relationships" id="265" r:id="R73aa07cf35074aa3"/>
    <p:sldId xmlns:r="http://schemas.openxmlformats.org/officeDocument/2006/relationships" id="266" r:id="Re46b6687814e47e3"/>
    <p:sldId xmlns:r="http://schemas.openxmlformats.org/officeDocument/2006/relationships" id="267" r:id="R3a46c798763545de"/>
    <p:sldId xmlns:r="http://schemas.openxmlformats.org/officeDocument/2006/relationships" id="268" r:id="Rc197cf890379451c"/>
    <p:sldId xmlns:r="http://schemas.openxmlformats.org/officeDocument/2006/relationships" id="269" r:id="Rbcfc43f99832490e"/>
    <p:sldId xmlns:r="http://schemas.openxmlformats.org/officeDocument/2006/relationships" id="270" r:id="Raac75f4c5e70478e"/>
    <p:sldId xmlns:r="http://schemas.openxmlformats.org/officeDocument/2006/relationships" id="271" r:id="R1e2de5978fa04bc6"/>
    <p:sldId xmlns:r="http://schemas.openxmlformats.org/officeDocument/2006/relationships" id="272" r:id="Rc2e26b212b174daa"/>
    <p:sldId xmlns:r="http://schemas.openxmlformats.org/officeDocument/2006/relationships" id="273" r:id="R9c3442623767477e"/>
    <p:sldId xmlns:r="http://schemas.openxmlformats.org/officeDocument/2006/relationships" id="274" r:id="Ree823b2cf02c4672"/>
    <p:sldId xmlns:r="http://schemas.openxmlformats.org/officeDocument/2006/relationships" id="275" r:id="Rad1bc5d9fa144f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49b29112774aa1" /><Relationship Type="http://schemas.openxmlformats.org/officeDocument/2006/relationships/slideMaster" Target="/ppt/slideMasters/slideMaster1.xml" Id="R01d9ff9e91af4650" /><Relationship Type="http://schemas.openxmlformats.org/officeDocument/2006/relationships/notesMaster" Target="/ppt/notesMasters/notesMaster1.xml" Id="Re8194e3a01ee48fb" /><Relationship Type="http://schemas.openxmlformats.org/officeDocument/2006/relationships/presProps" Target="/ppt/presProps.xml" Id="Rcbebfe62922d45c6" /><Relationship Type="http://schemas.openxmlformats.org/officeDocument/2006/relationships/tableStyles" Target="/ppt/tableStyles.xml" Id="R46042a113fae460b" /><Relationship Type="http://schemas.openxmlformats.org/officeDocument/2006/relationships/slide" Target="/ppt/slides/slide1.xml" Id="Rfdb064eb2ef3414b" /><Relationship Type="http://schemas.openxmlformats.org/officeDocument/2006/relationships/slide" Target="/ppt/slides/slide2.xml" Id="Rab1bd74db4b3408a" /><Relationship Type="http://schemas.openxmlformats.org/officeDocument/2006/relationships/slide" Target="/ppt/slides/slide3.xml" Id="Rc83e54a3eec2476b" /><Relationship Type="http://schemas.openxmlformats.org/officeDocument/2006/relationships/slide" Target="/ppt/slides/slide4.xml" Id="R2a416447ca8044ec" /><Relationship Type="http://schemas.openxmlformats.org/officeDocument/2006/relationships/slide" Target="/ppt/slides/slide5.xml" Id="Ra54be5e39bad43b4" /><Relationship Type="http://schemas.openxmlformats.org/officeDocument/2006/relationships/slide" Target="/ppt/slides/slide6.xml" Id="Raaa247b0bbc64bb0" /><Relationship Type="http://schemas.openxmlformats.org/officeDocument/2006/relationships/slide" Target="/ppt/slides/slide7.xml" Id="R2cc0911835a740e8" /><Relationship Type="http://schemas.openxmlformats.org/officeDocument/2006/relationships/slide" Target="/ppt/slides/slide8.xml" Id="R41f90d1e1a3a4718" /><Relationship Type="http://schemas.openxmlformats.org/officeDocument/2006/relationships/slide" Target="/ppt/slides/slide9.xml" Id="Rf33fb31354964292" /><Relationship Type="http://schemas.openxmlformats.org/officeDocument/2006/relationships/slide" Target="/ppt/slides/slide10.xml" Id="R73aa07cf35074aa3" /><Relationship Type="http://schemas.openxmlformats.org/officeDocument/2006/relationships/slide" Target="/ppt/slides/slide11.xml" Id="Re46b6687814e47e3" /><Relationship Type="http://schemas.openxmlformats.org/officeDocument/2006/relationships/slide" Target="/ppt/slides/slide12.xml" Id="R3a46c798763545de" /><Relationship Type="http://schemas.openxmlformats.org/officeDocument/2006/relationships/slide" Target="/ppt/slides/slide13.xml" Id="Rc197cf890379451c" /><Relationship Type="http://schemas.openxmlformats.org/officeDocument/2006/relationships/slide" Target="/ppt/slides/slide14.xml" Id="Rbcfc43f99832490e" /><Relationship Type="http://schemas.openxmlformats.org/officeDocument/2006/relationships/slide" Target="/ppt/slides/slide15.xml" Id="Raac75f4c5e70478e" /><Relationship Type="http://schemas.openxmlformats.org/officeDocument/2006/relationships/slide" Target="/ppt/slides/slide16.xml" Id="R1e2de5978fa04bc6" /><Relationship Type="http://schemas.openxmlformats.org/officeDocument/2006/relationships/slide" Target="/ppt/slides/slide17.xml" Id="Rc2e26b212b174daa" /><Relationship Type="http://schemas.openxmlformats.org/officeDocument/2006/relationships/slide" Target="/ppt/slides/slide18.xml" Id="R9c3442623767477e" /><Relationship Type="http://schemas.openxmlformats.org/officeDocument/2006/relationships/slide" Target="/ppt/slides/slide19.xml" Id="Ree823b2cf02c4672" /><Relationship Type="http://schemas.openxmlformats.org/officeDocument/2006/relationships/slide" Target="/ppt/slides/slide20.xml" Id="Rad1bc5d9fa144f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912af8347743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Jarvis Tech">
      <a:dk1>
        <a:srgbClr val="000000"/>
      </a:dk1>
      <a:lt1>
        <a:srgbClr val="FFFFFF"/>
      </a:lt1>
      <a:dk2>
        <a:srgbClr val="04101C"/>
      </a:dk2>
      <a:lt2>
        <a:srgbClr val="DCECF5"/>
      </a:lt2>
      <a:accent1>
        <a:srgbClr val="2BD9FF"/>
      </a:accent1>
      <a:accent2>
        <a:srgbClr val="2D7CFF"/>
      </a:accent2>
      <a:accent3>
        <a:srgbClr val="8B6CFF"/>
      </a:accent3>
      <a:accent4>
        <a:srgbClr val="6FE7B6"/>
      </a:accent4>
      <a:accent5>
        <a:srgbClr val="F4C66A"/>
      </a:accent5>
      <a:accent6>
        <a:srgbClr val="FF8191"/>
      </a:accent6>
      <a:hlink>
        <a:srgbClr val="2BD9FF"/>
      </a:hlink>
      <a:folHlink>
        <a:srgbClr val="8B6CF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Jarvis Te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1744f5ec0d488c" /><Relationship Type="http://schemas.openxmlformats.org/officeDocument/2006/relationships/notesMaster" Target="/ppt/notesMasters/notesMaster1.xml" Id="Rf1bc92829ba645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534bc23f324455" /><Relationship Type="http://schemas.openxmlformats.org/officeDocument/2006/relationships/notesMaster" Target="/ppt/notesMasters/notesMaster1.xml" Id="R7369090004724a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40b8c48fda4fe5" /><Relationship Type="http://schemas.openxmlformats.org/officeDocument/2006/relationships/notesMaster" Target="/ppt/notesMasters/notesMaster1.xml" Id="Rd9ed6e8bc8904b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5710d015d74b71" /><Relationship Type="http://schemas.openxmlformats.org/officeDocument/2006/relationships/notesMaster" Target="/ppt/notesMasters/notesMaster1.xml" Id="R3cd6e5ddc9ac44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96b5efc9164479" /><Relationship Type="http://schemas.openxmlformats.org/officeDocument/2006/relationships/notesMaster" Target="/ppt/notesMasters/notesMaster1.xml" Id="R74be7d3720b043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12f99cf0fe4ed5" /><Relationship Type="http://schemas.openxmlformats.org/officeDocument/2006/relationships/notesMaster" Target="/ppt/notesMasters/notesMaster1.xml" Id="Rb3f48ce374aa44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5920eb9b75499e" /><Relationship Type="http://schemas.openxmlformats.org/officeDocument/2006/relationships/notesMaster" Target="/ppt/notesMasters/notesMaster1.xml" Id="Rbb6b5d172cda4f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3bcefcb6d9464f" /><Relationship Type="http://schemas.openxmlformats.org/officeDocument/2006/relationships/notesMaster" Target="/ppt/notesMasters/notesMaster1.xml" Id="Rb064f0f08f214d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da802aeb934407" /><Relationship Type="http://schemas.openxmlformats.org/officeDocument/2006/relationships/notesMaster" Target="/ppt/notesMasters/notesMaster1.xml" Id="R90a5a1cc95eb4c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e5b197b4c64888" /><Relationship Type="http://schemas.openxmlformats.org/officeDocument/2006/relationships/notesMaster" Target="/ppt/notesMasters/notesMaster1.xml" Id="R61fb2bcfb2364aa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3b4d0c97b24b84" /><Relationship Type="http://schemas.openxmlformats.org/officeDocument/2006/relationships/notesMaster" Target="/ppt/notesMasters/notesMaster1.xml" Id="R1c0564635dca427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e38aeb641f415a" /><Relationship Type="http://schemas.openxmlformats.org/officeDocument/2006/relationships/notesMaster" Target="/ppt/notesMasters/notesMaster1.xml" Id="Re19cc2731b984d4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c45fda6a7184edd" /><Relationship Type="http://schemas.openxmlformats.org/officeDocument/2006/relationships/notesMaster" Target="/ppt/notesMasters/notesMaster1.xml" Id="R8f3041d2ec2e443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8e0b0662f79483b" /><Relationship Type="http://schemas.openxmlformats.org/officeDocument/2006/relationships/notesMaster" Target="/ppt/notesMasters/notesMaster1.xml" Id="R103b1ee67e15449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2ee23b6ab56497d" /><Relationship Type="http://schemas.openxmlformats.org/officeDocument/2006/relationships/notesMaster" Target="/ppt/notesMasters/notesMaster1.xml" Id="Rfe4ad747c13e412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3d2e379103c4b25" /><Relationship Type="http://schemas.openxmlformats.org/officeDocument/2006/relationships/notesMaster" Target="/ppt/notesMasters/notesMaster1.xml" Id="R41b543ab3574467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0ff49ede8a64a99" /><Relationship Type="http://schemas.openxmlformats.org/officeDocument/2006/relationships/notesMaster" Target="/ppt/notesMasters/notesMaster1.xml" Id="Recd24907f6f348b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a94b5247d5b46f1" /><Relationship Type="http://schemas.openxmlformats.org/officeDocument/2006/relationships/notesMaster" Target="/ppt/notesMasters/notesMaster1.xml" Id="R6c1c866abbbf457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44354610bd243da" /><Relationship Type="http://schemas.openxmlformats.org/officeDocument/2006/relationships/notesMaster" Target="/ppt/notesMasters/notesMaster1.xml" Id="R4e8c508b8cdc40e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dcf14e0f1084c17" /><Relationship Type="http://schemas.openxmlformats.org/officeDocument/2006/relationships/notesMaster" Target="/ppt/notesMasters/notesMaster1.xml" Id="R2a4b5731bb4348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slide. Replace student, guide, department, college and academic year placeholders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commands can arrive as typed text or voice. High-confidence task skills handle direct commands; optional LLM providers support configured AI interactions.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Literature-review comparison for presentation context. Avoid claiming that any named product has no desktop automation; feature availability changes by platform and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problem statement as written, then briefly connect it to the six user challenges.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gap as a project-development need, rather than as an absolute claim about all other assistants.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objective slide to distinguish core project goals from optional services that depend on configuration, installed applications or internet access.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diagram. Ollama and NVIDIA NIM are selectable providers. The provider router supports configured automatic failover, subject to valid model/API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Examples show intended routing. Present the WhatsApp flow only after explaining that it requires an available application, a focused window and a confirmation before sending.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code supports a provider router with optional automatic failover. Do not say that every request uses NVIDIA NIM. It is an optional configured provider.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expected outcomes as a combination of implemented core capabilities and configurable services. Avoid claiming online/cloud services work without their setup.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roadmap as a proposed plan. Mark completed phases according to the team’s actual current status before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Component list uses the software libraries and modules provided in the supplied project requirements and source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Requirements distinguish core execution from optional local AI, cloud AI, voice and online features. No fixed laptop specification is defined by the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Fill actual microphone, internet and miscellaneous expenditure values. The total must be calculated from those completed rows.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Advantages reflect the intended user value of combining voice input with structured desktop automation.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Limitations should be presented openly. Explain that controls and confirmations help reduce risk but cannot guarantee every external application outcome.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Future-scope items are proposals, not claims about the current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Conclude with the project’s central idea: voice or text request, command understanding, action selection and a clear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slide. Insert team screenshots after running the application. Use safe commands for a live demo and avoid showing keys, passwords or personal chats.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Thank the audience and invite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9f086be95743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7767267e854cb2" /><Relationship Type="http://schemas.openxmlformats.org/officeDocument/2006/relationships/slideLayout" Target="/ppt/slideLayouts/slideLayout1.xml" Id="R2e987ab3fc3245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987ab3fc3245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Jarvis Tech">
      <a:dk1>
        <a:srgbClr val="000000"/>
      </a:dk1>
      <a:lt1>
        <a:srgbClr val="FFFFFF"/>
      </a:lt1>
      <a:dk2>
        <a:srgbClr val="04101C"/>
      </a:dk2>
      <a:lt2>
        <a:srgbClr val="DCECF5"/>
      </a:lt2>
      <a:accent1>
        <a:srgbClr val="2BD9FF"/>
      </a:accent1>
      <a:accent2>
        <a:srgbClr val="2D7CFF"/>
      </a:accent2>
      <a:accent3>
        <a:srgbClr val="8B6CFF"/>
      </a:accent3>
      <a:accent4>
        <a:srgbClr val="6FE7B6"/>
      </a:accent4>
      <a:accent5>
        <a:srgbClr val="F4C66A"/>
      </a:accent5>
      <a:accent6>
        <a:srgbClr val="FF8191"/>
      </a:accent6>
      <a:hlink>
        <a:srgbClr val="2BD9FF"/>
      </a:hlink>
      <a:folHlink>
        <a:srgbClr val="8B6CF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Jarvis Te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3bb44006d4e0c" /><Relationship Type="http://schemas.openxmlformats.org/officeDocument/2006/relationships/notesSlide" Target="/ppt/notesSlides/notesSlide1.xml" Id="Ra462599ecc4e4a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c90b9e51a45d7" /><Relationship Type="http://schemas.openxmlformats.org/officeDocument/2006/relationships/notesSlide" Target="/ppt/notesSlides/notesSlide2.xml" Id="Rc902814228414a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e95a6fe384b10" /><Relationship Type="http://schemas.openxmlformats.org/officeDocument/2006/relationships/notesSlide" Target="/ppt/notesSlides/notesSlide3.xml" Id="R8b04bb6f5e2545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45ec4fb234170" /><Relationship Type="http://schemas.openxmlformats.org/officeDocument/2006/relationships/notesSlide" Target="/ppt/notesSlides/notesSlide4.xml" Id="R23cb6bce2c074e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d0d01605f44f6" /><Relationship Type="http://schemas.openxmlformats.org/officeDocument/2006/relationships/notesSlide" Target="/ppt/notesSlides/notesSlide5.xml" Id="R7ef384e2b79e49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08a8c4139432b" /><Relationship Type="http://schemas.openxmlformats.org/officeDocument/2006/relationships/notesSlide" Target="/ppt/notesSlides/notesSlide6.xml" Id="Rf1d1e54d423b45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f877b583e4206" /><Relationship Type="http://schemas.openxmlformats.org/officeDocument/2006/relationships/notesSlide" Target="/ppt/notesSlides/notesSlide7.xml" Id="R2aa815c567954e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077feb3264dce" /><Relationship Type="http://schemas.openxmlformats.org/officeDocument/2006/relationships/notesSlide" Target="/ppt/notesSlides/notesSlide8.xml" Id="R3d61977df28a47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d536c30584dcc" /><Relationship Type="http://schemas.openxmlformats.org/officeDocument/2006/relationships/notesSlide" Target="/ppt/notesSlides/notesSlide9.xml" Id="R3f4bd546fea64a7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3bcbbc8e54aee" /><Relationship Type="http://schemas.openxmlformats.org/officeDocument/2006/relationships/notesSlide" Target="/ppt/notesSlides/notesSlide10.xml" Id="R6780ef8d9ef94f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16238b4b342bf" /><Relationship Type="http://schemas.openxmlformats.org/officeDocument/2006/relationships/notesSlide" Target="/ppt/notesSlides/notesSlide11.xml" Id="R178a7b2bb6e14c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17500e8ac40f9" /><Relationship Type="http://schemas.openxmlformats.org/officeDocument/2006/relationships/notesSlide" Target="/ppt/notesSlides/notesSlide12.xml" Id="Rd75bc0b586624b2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545db211c4e57" /><Relationship Type="http://schemas.openxmlformats.org/officeDocument/2006/relationships/notesSlide" Target="/ppt/notesSlides/notesSlide13.xml" Id="R3037987c7408451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babc38a064cae" /><Relationship Type="http://schemas.openxmlformats.org/officeDocument/2006/relationships/notesSlide" Target="/ppt/notesSlides/notesSlide14.xml" Id="R3a0bae39639140f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360a311874ff2" /><Relationship Type="http://schemas.openxmlformats.org/officeDocument/2006/relationships/notesSlide" Target="/ppt/notesSlides/notesSlide15.xml" Id="R7d6e4fdbd52c4ca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3605c0ba946c7" /><Relationship Type="http://schemas.openxmlformats.org/officeDocument/2006/relationships/notesSlide" Target="/ppt/notesSlides/notesSlide16.xml" Id="R45fc4f9b255b43d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aa182fdd84676" /><Relationship Type="http://schemas.openxmlformats.org/officeDocument/2006/relationships/notesSlide" Target="/ppt/notesSlides/notesSlide17.xml" Id="R4adcee98a683424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f79e02d5949fb" /><Relationship Type="http://schemas.openxmlformats.org/officeDocument/2006/relationships/notesSlide" Target="/ppt/notesSlides/notesSlide18.xml" Id="R4938a1f9d1f6473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19769235a4c64" /><Relationship Type="http://schemas.openxmlformats.org/officeDocument/2006/relationships/notesSlide" Target="/ppt/notesSlides/notesSlide19.xml" Id="R8289e36b4ac7416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f48a5c23841b4" /><Relationship Type="http://schemas.openxmlformats.org/officeDocument/2006/relationships/notesSlide" Target="/ppt/notesSlides/notesSlide20.xml" Id="Ra83e3d13249445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2BDE84-DAE6-452F-9D0A-C5495ED0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9FF"/>
          </a:solidFill>
          <a:ln xmlns:a="http://schemas.openxmlformats.org/drawingml/2006/main" w="0">
            <a:solidFill>
              <a:srgbClr val="2BD9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E4093-E2C5-4E46-9A7E-EC41D3D9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BE COMPUTER ENGINEERING  |  PROJECT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606EE-8BBA-4743-BD3F-D24E005D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8110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870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65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JARVIS 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33456C-8946-4BC0-B4A5-59DC2C9A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581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00" b="0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8CEBFF"/>
                </a:solidFill>
                <a:latin typeface="Arial"/>
                <a:ea typeface="Arial"/>
                <a:cs typeface="Arial"/>
              </a:rPr>
              <a:t>Intelligent Voice-Controlled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2400" b="0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8CEBFF"/>
                </a:solidFill>
                <a:latin typeface="Arial"/>
                <a:ea typeface="Arial"/>
                <a:cs typeface="Arial"/>
              </a:rPr>
              <a:t>Desktop Assistant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AE918D-1FC9-4D34-B377-BBFD92BF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74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9DAE8"/>
                </a:solidFill>
                <a:latin typeface="Arial"/>
                <a:ea typeface="Arial"/>
                <a:cs typeface="Arial"/>
              </a:rPr>
              <a:t>An AI-powered desktop automation system that turns natural-language commands into computer actions.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53855-A9F7-4384-9FF9-A2729841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5286375" cy="1285875"/>
          </a:xfrm>
          <a:prstGeom xmlns:a="http://schemas.openxmlformats.org/drawingml/2006/main" prst="roundRect">
            <a:avLst>
              <a:gd name="adj" fmla="val 10370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1C466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BB955C-562C-49FE-BDD3-A8A5FEE1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476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AFF"/>
                </a:solidFill>
                <a:latin typeface="Arial"/>
                <a:ea typeface="Arial"/>
                <a:cs typeface="Arial"/>
              </a:rPr>
              <a:t>Student: [Name]    |    Guide: [Name]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12014D-A198-4A3F-8535-715DED72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9DAE8"/>
                </a:solidFill>
                <a:latin typeface="Arial"/>
                <a:ea typeface="Arial"/>
                <a:cs typeface="Arial"/>
              </a:rPr>
              <a:t>Department / College: [Name]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7BA6F1-70C1-43CF-8B7C-3BE27E33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816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9DAE8"/>
                </a:solidFill>
                <a:latin typeface="Arial"/>
                <a:ea typeface="Arial"/>
                <a:cs typeface="Arial"/>
              </a:rPr>
              <a:t>Academic Year: [Year]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E93C5-97B1-4487-B05D-48CDB195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257300"/>
            <a:ext cx="1952625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2BD9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95D5A6-085D-48F9-8BDF-34496474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47925"/>
            <a:ext cx="1952625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8B6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CEBFF"/>
                </a:solidFill>
                <a:latin typeface="Arial"/>
                <a:ea typeface="Arial"/>
                <a:cs typeface="Arial"/>
              </a:rPr>
              <a:t>VOICE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C7CA17-37AF-4552-A2A7-E4FACED3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38550"/>
            <a:ext cx="1952625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8B6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AI / LLM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DA16E2-7C1C-4CE3-8A96-00B3656C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29175"/>
            <a:ext cx="1952625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6FE7B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6FE7B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FE7B6"/>
                </a:solidFill>
                <a:latin typeface="Arial"/>
                <a:ea typeface="Arial"/>
                <a:cs typeface="Arial"/>
              </a:rPr>
              <a:t>DESKTOP</a:t>
            </a:r>
          </a:p>
        </p:txBody>
      </p:sp>
      <p:cxnSp>
        <p:nvCxnSpPr>
          <p:cNvPr id="31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9358313" y="1771650"/>
            <a:ext cx="0" cy="676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D9FF"/>
            </a:solidFill>
            <a:prstDash val="soli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9358313" y="2962275"/>
            <a:ext cx="0" cy="676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6CFF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9358313" y="4152900"/>
            <a:ext cx="0" cy="676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E7B6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1BC87F-EB06-48C7-913F-6612FDC5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619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Speech · Reasoning · Automation</a:t>
            </a:r>
          </a:p>
        </p:txBody>
      </p:sp>
    </p:spTree>
    <p:extLst>
      <p:ext uri="{BB962C8B-B14F-4D97-AF65-F5344CB8AC3E}">
        <p14:creationId xmlns:p14="http://schemas.microsoft.com/office/powerpoint/2010/main" val="12280997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173AB7-D6CF-4ED9-A2B4-6D199EDF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9FF"/>
          </a:solidFill>
          <a:ln xmlns:a="http://schemas.openxmlformats.org/drawingml/2006/main" w="0">
            <a:solidFill>
              <a:srgbClr val="2BD9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8C681-17C2-412C-8457-153A31B8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PROJECT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7DC7E-84AC-4C8F-99E5-74957214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1. Introduction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38904-9713-4A55-AA4C-1B4EAF02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763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66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E1520-2A35-4C9B-91B6-2C14764A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6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3633E-4EEF-41B7-97A8-786B4A35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JARVIS OS – Intelligent Voice-Controlled Desktop Assistant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07DEFC-1576-4B29-AC15-27FE45FE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6C3FCB-30C7-4C50-9015-C95A5BA2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552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CEBFF"/>
                </a:solidFill>
                <a:latin typeface="Arial"/>
                <a:ea typeface="Arial"/>
                <a:cs typeface="Arial"/>
              </a:rPr>
              <a:t>JARVIS OS converts natural-language voice commands into practical computer actions.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DE1E0-1677-4E6B-9F24-F0E36230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53340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9DAE8"/>
                </a:solidFill>
                <a:latin typeface="Arial"/>
                <a:ea typeface="Arial"/>
                <a:cs typeface="Arial"/>
              </a:rPr>
              <a:t>Traditional computer use depends on keyboard, mouse and graphical menus.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9DAE8"/>
                </a:solidFill>
                <a:latin typeface="Arial"/>
                <a:ea typeface="Arial"/>
                <a:cs typeface="Arial"/>
              </a:rPr>
              <a:t>Manual desktop operations can repeat the same steps across several applications.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9DAE8"/>
                </a:solidFill>
                <a:latin typeface="Arial"/>
                <a:ea typeface="Arial"/>
                <a:cs typeface="Arial"/>
              </a:rPr>
              <a:t>Voice interaction offers a natural way to request a task.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9DAE8"/>
                </a:solidFill>
                <a:latin typeface="Arial"/>
                <a:ea typeface="Arial"/>
                <a:cs typeface="Arial"/>
              </a:rPr>
              <a:t>JARVIS OS combines speech recognition, command analysis and desktop automation.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9DAE8"/>
                </a:solidFill>
                <a:latin typeface="Arial"/>
                <a:ea typeface="Arial"/>
                <a:cs typeface="Arial"/>
              </a:rPr>
              <a:t>Structured skills can act directly; AI/LLM processing supports configured intelligent interaction.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519CB6-A957-48FC-9E38-400F39A8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3716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Command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C6F1B9-89D2-4F0E-95A2-04A63A96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52600"/>
            <a:ext cx="35242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2BD9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45E1F2-2676-48DC-9F08-ACAEE0C9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28850"/>
            <a:ext cx="35242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2BD9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Voice Command</a:t>
            </a:r>
          </a:p>
        </p:txBody>
      </p:sp>
      <p:cxnSp>
        <p:nvCxnSpPr>
          <p:cNvPr id="38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8953500" y="215265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D9FF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814839-82C4-4DF5-816A-2978A254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05100"/>
            <a:ext cx="35242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8B6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Speech Recognition</a:t>
            </a:r>
          </a:p>
        </p:txBody>
      </p:sp>
      <p:cxnSp>
        <p:nvCxnSpPr>
          <p:cNvPr id="40" name=""/>
          <p:cNvCxnSpPr>
            <a:stCxn xmlns:a="http://schemas.openxmlformats.org/drawingml/2006/main" id="12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8953500" y="262890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6CFF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C6C2E8-4042-4619-A2DB-A3EF50EA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81350"/>
            <a:ext cx="35242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8B6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AI / LLM</a:t>
            </a:r>
          </a:p>
        </p:txBody>
      </p:sp>
      <p:cxnSp>
        <p:nvCxnSpPr>
          <p:cNvPr id="42" name=""/>
          <p:cNvCxnSpPr>
            <a:stCxn xmlns:a="http://schemas.openxmlformats.org/drawingml/2006/main" id="14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8953500" y="310515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6CFF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EFBB13-A523-4A96-9C10-D21B4894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57600"/>
            <a:ext cx="35242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2D7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Intent &amp; Task Analysis</a:t>
            </a:r>
          </a:p>
        </p:txBody>
      </p:sp>
      <p:cxnSp>
        <p:nvCxnSpPr>
          <p:cNvPr id="44" name=""/>
          <p:cNvCxnSpPr>
            <a:stCxn xmlns:a="http://schemas.openxmlformats.org/drawingml/2006/main" id="16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8953500" y="358140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CFF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11FBED-29A2-4BDD-BBD6-1CBFA467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33850"/>
            <a:ext cx="35242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6FE7B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Desktop Automation</a:t>
            </a:r>
          </a:p>
        </p:txBody>
      </p:sp>
      <p:cxnSp>
        <p:nvCxnSpPr>
          <p:cNvPr id="46" name=""/>
          <p:cNvCxnSpPr>
            <a:stCxn xmlns:a="http://schemas.openxmlformats.org/drawingml/2006/main" id="18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8953500" y="405765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E7B6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FD9476-F572-4CC6-96ED-1BC147A0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610100"/>
            <a:ext cx="35242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6FE7B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Application / OS</a:t>
            </a:r>
          </a:p>
        </p:txBody>
      </p:sp>
      <p:cxnSp>
        <p:nvCxnSpPr>
          <p:cNvPr id="48" name=""/>
          <p:cNvCxnSpPr>
            <a:stCxn xmlns:a="http://schemas.openxmlformats.org/drawingml/2006/main" id="20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8953500" y="453390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E7B6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CD95E3-3FA9-4BC5-8D44-F8BB036F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086350"/>
            <a:ext cx="35242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2BD9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cxnSp>
        <p:nvCxnSpPr>
          <p:cNvPr id="50" name=""/>
          <p:cNvCxnSpPr>
            <a:stCxn xmlns:a="http://schemas.openxmlformats.org/drawingml/2006/main" id="22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8953500" y="501015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D9FF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7783034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F3153-9EF5-40DD-818D-1D375A4F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9FF"/>
          </a:solidFill>
          <a:ln xmlns:a="http://schemas.openxmlformats.org/drawingml/2006/main" w="0">
            <a:solidFill>
              <a:srgbClr val="2BD9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70EF05-9FD5-4AD1-B408-4A28D0DD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EXISTING ASSISTANTS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CD9DF-4F77-4914-933A-E38F535A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2. Literature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11C46-F685-4155-9F6D-F53F9A0F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763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66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4C98C-541C-48CA-94AA-7D69ACF4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6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01AFE3-C4A1-4A09-9015-4ED896FD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JARVIS OS – Intelligent Voice-Controlled Desktop Assistant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6C6742-8557-45FF-A1A8-AEB4232D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864FA-5505-414E-92F0-08A4F1B7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878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9DAE8"/>
                </a:solidFill>
                <a:latin typeface="Arial"/>
                <a:ea typeface="Arial"/>
                <a:cs typeface="Arial"/>
              </a:rPr>
              <a:t>Existing assistants demonstrate voice interaction and AI assistance. JARVIS OS focuses on the desktop automation context.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552450" y="1924050"/>
          <a:ext xmlns:a="http://schemas.openxmlformats.org/drawingml/2006/main" cx="11087100" cy="2971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95700"/>
                <a:gridCol w="3695700"/>
                <a:gridCol w="3695700"/>
              </a:tblGrid>
              <a:tr h="4953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8CEBFF"/>
                          </a:solidFill>
                          <a:latin typeface="Arial"/>
                          <a:ea typeface="Arial"/>
                          <a:cs typeface="Arial"/>
                        </a:rPr>
                        <a:t>System</a:t>
                      </a:r>
                    </a:p>
                  </a:txBody>
                  <a:tcPr marL="91440" marR="91440" marT="45720" marB="45720">
                    <a:solidFill>
                      <a:srgbClr val="0C223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8CEBFF"/>
                          </a:solidFill>
                          <a:latin typeface="Arial"/>
                          <a:ea typeface="Arial"/>
                          <a:cs typeface="Arial"/>
                        </a:rPr>
                        <a:t>Main Capability</a:t>
                      </a:r>
                    </a:p>
                  </a:txBody>
                  <a:tcPr marL="91440" marR="91440" marT="45720" marB="45720">
                    <a:solidFill>
                      <a:srgbClr val="0C223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8CEBFF"/>
                          </a:solidFill>
                          <a:latin typeface="Arial"/>
                          <a:ea typeface="Arial"/>
                          <a:cs typeface="Arial"/>
                        </a:rPr>
                        <a:t>Limitation in this project context</a:t>
                      </a:r>
                    </a:p>
                  </a:txBody>
                  <a:tcPr marL="91440" marR="91440" marT="45720" marB="45720">
                    <a:solidFill>
                      <a:srgbClr val="0C2239"/>
                    </a:solidFill>
                  </a:tcPr>
                </a:tc>
              </a:tr>
              <a:tr h="4953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Siri</a:t>
                      </a:r>
                    </a:p>
                  </a:txBody>
                  <a:tcPr marL="91440" marR="91440" marT="45720" marB="45720">
                    <a:solidFill>
                      <a:srgbClr val="0A182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Voice assistance within the Apple ecosystem</a:t>
                      </a:r>
                    </a:p>
                  </a:txBody>
                  <a:tcPr marL="91440" marR="91440" marT="45720" marB="45720">
                    <a:solidFill>
                      <a:srgbClr val="0A182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Desktop automation is outside this project’s Windows focus</a:t>
                      </a:r>
                    </a:p>
                  </a:txBody>
                  <a:tcPr marL="91440" marR="91440" marT="45720" marB="45720">
                    <a:solidFill>
                      <a:srgbClr val="0A1828"/>
                    </a:solidFill>
                  </a:tcPr>
                </a:tc>
              </a:tr>
              <a:tr h="4953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Google Assistant</a:t>
                      </a:r>
                    </a:p>
                  </a:txBody>
                  <a:tcPr marL="91440" marR="91440" marT="45720" marB="45720">
                    <a:solidFill>
                      <a:srgbClr val="0A1B2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Voice queries, information and connected services</a:t>
                      </a:r>
                    </a:p>
                  </a:txBody>
                  <a:tcPr marL="91440" marR="91440" marT="45720" marB="45720">
                    <a:solidFill>
                      <a:srgbClr val="0A1B2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Local desktop workflow control differs from this project’s goal</a:t>
                      </a:r>
                    </a:p>
                  </a:txBody>
                  <a:tcPr marL="91440" marR="91440" marT="45720" marB="45720">
                    <a:solidFill>
                      <a:srgbClr val="0A1B2E"/>
                    </a:solidFill>
                  </a:tcPr>
                </a:tc>
              </a:tr>
              <a:tr h="4953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Alexa</a:t>
                      </a:r>
                    </a:p>
                  </a:txBody>
                  <a:tcPr marL="91440" marR="91440" marT="45720" marB="45720">
                    <a:solidFill>
                      <a:srgbClr val="0A182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Voice commands and skills</a:t>
                      </a:r>
                    </a:p>
                  </a:txBody>
                  <a:tcPr marL="91440" marR="91440" marT="45720" marB="45720">
                    <a:solidFill>
                      <a:srgbClr val="0A182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Focus commonly extends to services and smart devices</a:t>
                      </a:r>
                    </a:p>
                  </a:txBody>
                  <a:tcPr marL="91440" marR="91440" marT="45720" marB="45720">
                    <a:solidFill>
                      <a:srgbClr val="0A1828"/>
                    </a:solidFill>
                  </a:tcPr>
                </a:tc>
              </a:tr>
              <a:tr h="4953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Microsoft Copilot</a:t>
                      </a:r>
                    </a:p>
                  </a:txBody>
                  <a:tcPr marL="91440" marR="91440" marT="45720" marB="45720">
                    <a:solidFill>
                      <a:srgbClr val="0A1B2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AI assistance across Microsoft products</a:t>
                      </a:r>
                    </a:p>
                  </a:txBody>
                  <a:tcPr marL="91440" marR="91440" marT="45720" marB="45720">
                    <a:solidFill>
                      <a:srgbClr val="0A1B2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Automation depends on available product permissions and integrations</a:t>
                      </a:r>
                    </a:p>
                  </a:txBody>
                  <a:tcPr marL="91440" marR="91440" marT="45720" marB="45720">
                    <a:solidFill>
                      <a:srgbClr val="0A1B2E"/>
                    </a:solidFill>
                  </a:tcPr>
                </a:tc>
              </a:tr>
              <a:tr h="4953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Traditional Python assistants</a:t>
                      </a:r>
                    </a:p>
                  </a:txBody>
                  <a:tcPr marL="91440" marR="91440" marT="45720" marB="45720">
                    <a:solidFill>
                      <a:srgbClr val="0A182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Custom voice commands and scripted tasks</a:t>
                      </a:r>
                    </a:p>
                  </a:txBody>
                  <a:tcPr marL="91440" marR="91440" marT="45720" marB="45720">
                    <a:solidFill>
                      <a:srgbClr val="0A182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Often rely on rule-based, project-specific command handling</a:t>
                      </a:r>
                    </a:p>
                  </a:txBody>
                  <a:tcPr marL="91440" marR="91440" marT="45720" marB="45720">
                    <a:solidFill>
                      <a:srgbClr val="0A1828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2B6876-EFEA-403D-B513-36E775B7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86375"/>
            <a:ext cx="942975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2BD9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9547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Opportunity: Voice interaction + AI reasoning + computer automation in one desktop-focused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F52BEF-F528-4888-8A7B-4D506735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943600"/>
            <a:ext cx="8953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637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Comparison reflects the project scope. Capabilities vary by product, platform and version.</a:t>
            </a:r>
          </a:p>
        </p:txBody>
      </p:sp>
    </p:spTree>
    <p:extLst>
      <p:ext uri="{BB962C8B-B14F-4D97-AF65-F5344CB8AC3E}">
        <p14:creationId xmlns:p14="http://schemas.microsoft.com/office/powerpoint/2010/main" val="4168007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D8A967-21F4-461D-9ABB-9C217CE7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9FF"/>
          </a:solidFill>
          <a:ln xmlns:a="http://schemas.openxmlformats.org/drawingml/2006/main" w="0">
            <a:solidFill>
              <a:srgbClr val="2BD9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E4521F-2653-48CD-B8FA-A5F09FE3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NEED FOR THE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ABF78-9639-4962-B3D5-675B30CC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3. Problem Statement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97DBC-3B98-4C48-82CC-5B2399FB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763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66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0AB4D-346D-4EA1-A571-9D3BD2D2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6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E8AE81-A2F9-4ED5-9905-CCEBCE03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JARVIS OS – Intelligent Voice-Controlled Desktop Assistant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66C7D-D64C-41CC-84C9-723F8FC2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112C0B-910A-43EE-8846-993C6006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268E5B-1ECD-4FBA-BEB2-654ACC63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6381750" cy="1962150"/>
          </a:xfrm>
          <a:prstGeom xmlns:a="http://schemas.openxmlformats.org/drawingml/2006/main" prst="roundRect">
            <a:avLst>
              <a:gd name="adj" fmla="val 6796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2BD9FF"/>
            </a:solidFill>
            <a:prstDash val="solid"/>
          </a:ln>
        </p:spPr>
        <p:txBody>
          <a:bodyPr xmlns:a="http://schemas.openxmlformats.org/drawingml/2006/main" lIns="247650" tIns="209550" rIns="247650" bIns="190500" anchor="ctr">
            <a:normAutofit fontScale="901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3FAFF"/>
                </a:solidFill>
                <a:latin typeface="Arial"/>
                <a:ea typeface="Arial"/>
                <a:cs typeface="Arial"/>
              </a:rPr>
              <a:t>“To design and develop an intelligent voice-controlled desktop assistant, JARVIS OS, capable of understanding natural-language voice commands and performing computer operations, application control, web tasks, communication tasks, and AI-based question answering through an integrated desktop automation system.”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E11D7-7EF1-4F0A-8D54-815CA9C2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4382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Major user challenges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A89674-487B-4828-85C1-958F907F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847850"/>
            <a:ext cx="176212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2BD9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Manual navigation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500701-A56D-4029-B30E-6DBB3A26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47850"/>
            <a:ext cx="176212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2D7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Repetitive operations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913E5E-143A-4EA4-8185-80DF91A3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809875"/>
            <a:ext cx="176212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8B6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Application switching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5C798C-23BA-45EA-9F72-76AB10AC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09875"/>
            <a:ext cx="176212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6FE7B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Limited desktop control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E729F0-4170-4BA6-A9F5-63151D42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771900"/>
            <a:ext cx="176212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F4C66A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Rule-based language limits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4EF298-46FE-4636-8804-DA7B190D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71900"/>
            <a:ext cx="176212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FF8191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Cloud-service dependency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F5A005-2C63-4F44-98BC-625946B2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0239375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1C4664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8CEBFF"/>
                </a:solidFill>
                <a:latin typeface="Arial"/>
                <a:ea typeface="Arial"/>
                <a:cs typeface="Arial"/>
              </a:rPr>
              <a:t>Design goal: reduce manual effort while keeping computer actions understandable and controlled.</a:t>
            </a:r>
          </a:p>
        </p:txBody>
      </p:sp>
    </p:spTree>
    <p:extLst>
      <p:ext uri="{BB962C8B-B14F-4D97-AF65-F5344CB8AC3E}">
        <p14:creationId xmlns:p14="http://schemas.microsoft.com/office/powerpoint/2010/main" val="13329960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D25FFF-1360-459A-A5C7-8A552231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9FF"/>
          </a:solidFill>
          <a:ln xmlns:a="http://schemas.openxmlformats.org/drawingml/2006/main" w="0">
            <a:solidFill>
              <a:srgbClr val="2BD9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5ADD51-7EB9-432D-BCB4-C229EA3D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FROM ASSISTANCE TO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C60658-74D5-4E57-B3CD-011C738A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4. Research Gap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19A11-02BF-44F9-9517-9A0E4BFE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763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66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C1502-982D-4BA5-A7B8-46C4B458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6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7C0B7-D1AF-4FD3-AE91-321F9552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JARVIS OS – Intelligent Voice-Controlled Desktop Assistant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A291C5-6F78-4018-AEED-FD4E3EB2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033C38-9CB8-4F31-BC37-56CEC59E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9DAE8"/>
                </a:solidFill>
                <a:latin typeface="Arial"/>
                <a:ea typeface="Arial"/>
                <a:cs typeface="Arial"/>
              </a:rPr>
              <a:t>Existing assistants commonly support voice recognition, question answering, web search and basic commands.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8B3C51-458E-49A8-B2CC-B8A9EB4B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52650"/>
            <a:ext cx="3333750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88A2B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Existing Voice Assistant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99E58-43FF-4CE6-89D9-47A48BCE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19400"/>
            <a:ext cx="3333750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88A2B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Voice Recognition</a:t>
            </a:r>
          </a:p>
        </p:txBody>
      </p:sp>
      <p:cxnSp>
        <p:nvCxnSpPr>
          <p:cNvPr id="41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190875" y="267652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8A2B8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3060B6-1D3F-41A7-83AA-F22A0A2F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86150"/>
            <a:ext cx="3333750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88A2B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Question Answering</a:t>
            </a:r>
          </a:p>
        </p:txBody>
      </p:sp>
      <p:cxnSp>
        <p:nvCxnSpPr>
          <p:cNvPr id="43" name=""/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190875" y="334327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8A2B8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5AA817-3919-453E-A2A4-FABC91EF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52900"/>
            <a:ext cx="3333750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88A2B8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Basic Commands</a:t>
            </a:r>
          </a:p>
        </p:txBody>
      </p:sp>
      <p:cxnSp>
        <p:nvCxnSpPr>
          <p:cNvPr id="45" name=""/>
          <p:cNvCxnSpPr>
            <a:stCxn xmlns:a="http://schemas.openxmlformats.org/drawingml/2006/main" id="12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3190875" y="401002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8A2B8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DFF9AF-5AEC-4D75-A754-D38EF76D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28800"/>
            <a:ext cx="3333750" cy="428625"/>
          </a:xfrm>
          <a:prstGeom xmlns:a="http://schemas.openxmlformats.org/drawingml/2006/main" prst="roundRect">
            <a:avLst>
              <a:gd name="adj" fmla="val 31111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2BD9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JARVIS 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13DEDF-E44C-4D9D-BF3A-2B4662FF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3333750" cy="428625"/>
          </a:xfrm>
          <a:prstGeom xmlns:a="http://schemas.openxmlformats.org/drawingml/2006/main" prst="roundRect">
            <a:avLst>
              <a:gd name="adj" fmla="val 31111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2BD9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Voice Recognition</a:t>
            </a:r>
          </a:p>
        </p:txBody>
      </p:sp>
      <p:cxnSp>
        <p:nvCxnSpPr>
          <p:cNvPr id="48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9001125" y="2257425"/>
            <a:ext cx="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D9FF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F863A2-853A-475A-B7EC-8232D734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57500"/>
            <a:ext cx="3333750" cy="428625"/>
          </a:xfrm>
          <a:prstGeom xmlns:a="http://schemas.openxmlformats.org/drawingml/2006/main" prst="roundRect">
            <a:avLst>
              <a:gd name="adj" fmla="val 31111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8B6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Natural-Language Understanding</a:t>
            </a:r>
          </a:p>
        </p:txBody>
      </p:sp>
      <p:cxnSp>
        <p:nvCxnSpPr>
          <p:cNvPr id="50" name=""/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9001125" y="2771775"/>
            <a:ext cx="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6CFF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655413-16FB-4E3B-AF28-DC1A4C72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71850"/>
            <a:ext cx="3333750" cy="428625"/>
          </a:xfrm>
          <a:prstGeom xmlns:a="http://schemas.openxmlformats.org/drawingml/2006/main" prst="roundRect">
            <a:avLst>
              <a:gd name="adj" fmla="val 31111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8B6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LLM Reasoning</a:t>
            </a:r>
          </a:p>
        </p:txBody>
      </p:sp>
      <p:cxnSp>
        <p:nvCxnSpPr>
          <p:cNvPr id="52" name=""/>
          <p:cNvCxnSpPr>
            <a:stCxn xmlns:a="http://schemas.openxmlformats.org/drawingml/2006/main" id="19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9001125" y="3286125"/>
            <a:ext cx="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6CFF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4C7E2D-8E5D-4EDB-8362-D7E1ABF7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86200"/>
            <a:ext cx="3333750" cy="428625"/>
          </a:xfrm>
          <a:prstGeom xmlns:a="http://schemas.openxmlformats.org/drawingml/2006/main" prst="roundRect">
            <a:avLst>
              <a:gd name="adj" fmla="val 31111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2D7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Task Planning</a:t>
            </a:r>
          </a:p>
        </p:txBody>
      </p:sp>
      <p:cxnSp>
        <p:nvCxnSpPr>
          <p:cNvPr id="54" name=""/>
          <p:cNvCxnSpPr>
            <a:stCxn xmlns:a="http://schemas.openxmlformats.org/drawingml/2006/main" id="21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001125" y="3800475"/>
            <a:ext cx="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CFF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2A8B7F-547C-41B6-936E-011BEF08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00550"/>
            <a:ext cx="3333750" cy="428625"/>
          </a:xfrm>
          <a:prstGeom xmlns:a="http://schemas.openxmlformats.org/drawingml/2006/main" prst="roundRect">
            <a:avLst>
              <a:gd name="adj" fmla="val 31111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6FE7B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Desktop Automation</a:t>
            </a:r>
          </a:p>
        </p:txBody>
      </p:sp>
      <p:cxnSp>
        <p:nvCxnSpPr>
          <p:cNvPr id="56" name=""/>
          <p:cNvCxnSpPr>
            <a:stCxn xmlns:a="http://schemas.openxmlformats.org/drawingml/2006/main" id="23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9001125" y="4314825"/>
            <a:ext cx="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E7B6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79B220-076B-4F54-882F-92EAF9D4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14900"/>
            <a:ext cx="3333750" cy="428625"/>
          </a:xfrm>
          <a:prstGeom xmlns:a="http://schemas.openxmlformats.org/drawingml/2006/main" prst="roundRect">
            <a:avLst>
              <a:gd name="adj" fmla="val 31111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6FE7B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Real Computer Action</a:t>
            </a:r>
          </a:p>
        </p:txBody>
      </p:sp>
      <p:cxnSp>
        <p:nvCxnSpPr>
          <p:cNvPr id="58" name=""/>
          <p:cNvCxnSpPr>
            <a:stCxn xmlns:a="http://schemas.openxmlformats.org/drawingml/2006/main" id="25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9001125" y="4829175"/>
            <a:ext cx="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E7B6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DB41DA-9855-4003-A0F1-A60F1654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5282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4C66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C66A"/>
                </a:solidFill>
                <a:latin typeface="Arial"/>
                <a:ea typeface="Arial"/>
                <a:cs typeface="Arial"/>
              </a:rPr>
              <a:t>VERSUS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E54190-4B40-4F6A-94BF-F3FE9F09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95925"/>
            <a:ext cx="914400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8B6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293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AFF"/>
                </a:solidFill>
                <a:latin typeface="Arial"/>
                <a:ea typeface="Arial"/>
                <a:cs typeface="Arial"/>
              </a:rPr>
              <a:t>Research/development gap: a desktop assistant that combines natural-language AI reasoning with actual computer automation while supporting flexible local and cloud AI processing.</a:t>
            </a:r>
          </a:p>
        </p:txBody>
      </p:sp>
    </p:spTree>
    <p:extLst>
      <p:ext uri="{BB962C8B-B14F-4D97-AF65-F5344CB8AC3E}">
        <p14:creationId xmlns:p14="http://schemas.microsoft.com/office/powerpoint/2010/main" val="7499294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7551B5-8F97-4EC3-9F18-A97D246E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9FF"/>
          </a:solidFill>
          <a:ln xmlns:a="http://schemas.openxmlformats.org/drawingml/2006/main" w="0">
            <a:solidFill>
              <a:srgbClr val="2BD9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DCD6B-BC3D-49B7-9528-DCD5CE3A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PROJECT GOALS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4BC75-A35C-42D3-8CD9-D6F7EEEA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5. Aim and Objectives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38EC7-C635-4FCE-9FC9-52B1DA76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763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66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9BA15-F645-42F0-B12D-628D39C7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6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4DBEA-C3D4-4F9A-BE78-523D6FC6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JARVIS OS – Intelligent Voice-Controlled Desktop Assistant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3E4765-2C45-43E3-AEF5-EBE62CDD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9FD491-993E-4070-830C-EE044242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62075"/>
            <a:ext cx="11087100" cy="790575"/>
          </a:xfrm>
          <a:prstGeom xmlns:a="http://schemas.openxmlformats.org/drawingml/2006/main" prst="roundRect">
            <a:avLst>
              <a:gd name="adj" fmla="val 16867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2BD9FF"/>
            </a:solidFill>
            <a:prstDash val="solid"/>
          </a:ln>
        </p:spPr>
        <p:txBody>
          <a:bodyPr xmlns:a="http://schemas.openxmlformats.org/drawingml/2006/main" lIns="228600" tIns="142875" rIns="228600" bIns="114300" anchor="ctr">
            <a:normAutofit fontScale="86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3FAFF"/>
                </a:solidFill>
                <a:latin typeface="Arial"/>
                <a:ea typeface="Arial"/>
                <a:cs typeface="Arial"/>
              </a:rPr>
              <a:t>Aim: To develop an intelligent voice-controlled desktop assistant that uses Artificial Intelligence and desktop automation to understand natural-language commands and perform computer tasks efficiently.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661BF-95A0-4F48-9039-836D65E9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57450"/>
            <a:ext cx="447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Interaction and understanding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F7A602-E256-4B3D-8B56-3185E1FC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57450"/>
            <a:ext cx="447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Automation and integration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130468-0F70-4395-852D-9557C483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47975"/>
            <a:ext cx="4762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9DAE8"/>
                </a:solidFill>
                <a:latin typeface="Arial"/>
                <a:ea typeface="Arial"/>
                <a:cs typeface="Arial"/>
              </a:rPr>
              <a:t>Develop a voice-based user interface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9DAE8"/>
                </a:solidFill>
                <a:latin typeface="Arial"/>
                <a:ea typeface="Arial"/>
                <a:cs typeface="Arial"/>
              </a:rPr>
              <a:t>Convert speech into text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9DAE8"/>
                </a:solidFill>
                <a:latin typeface="Arial"/>
                <a:ea typeface="Arial"/>
                <a:cs typeface="Arial"/>
              </a:rPr>
              <a:t>Understand natural-language commands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9DAE8"/>
                </a:solidFill>
                <a:latin typeface="Arial"/>
                <a:ea typeface="Arial"/>
                <a:cs typeface="Arial"/>
              </a:rPr>
              <a:t>Use an LLM for intelligent reasoning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9DAE8"/>
                </a:solidFill>
                <a:latin typeface="Arial"/>
                <a:ea typeface="Arial"/>
                <a:cs typeface="Arial"/>
              </a:rPr>
              <a:t>Provide text and voice responses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9DAE8"/>
                </a:solidFill>
                <a:latin typeface="Arial"/>
                <a:ea typeface="Arial"/>
                <a:cs typeface="Arial"/>
              </a:rPr>
              <a:t>Improve user productivity through automation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E306FA-45C6-4AEC-84B7-4164348A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47975"/>
            <a:ext cx="4762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9DAE8"/>
                </a:solidFill>
                <a:latin typeface="Arial"/>
                <a:ea typeface="Arial"/>
                <a:cs typeface="Arial"/>
              </a:rPr>
              <a:t>Execute commands automatically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9DAE8"/>
                </a:solidFill>
                <a:latin typeface="Arial"/>
                <a:ea typeface="Arial"/>
                <a:cs typeface="Arial"/>
              </a:rPr>
              <a:t>Open and control desktop applications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9DAE8"/>
                </a:solidFill>
                <a:latin typeface="Arial"/>
                <a:ea typeface="Arial"/>
                <a:cs typeface="Arial"/>
              </a:rPr>
              <a:t>Perform web searches and browser operations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9DAE8"/>
                </a:solidFill>
                <a:latin typeface="Arial"/>
                <a:ea typeface="Arial"/>
                <a:cs typeface="Arial"/>
              </a:rPr>
              <a:t>Automate communication-related tasks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9DAE8"/>
                </a:solidFill>
                <a:latin typeface="Arial"/>
                <a:ea typeface="Arial"/>
                <a:cs typeface="Arial"/>
              </a:rPr>
              <a:t>Integrate local and cloud AI models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9DAE8"/>
                </a:solidFill>
                <a:latin typeface="Arial"/>
                <a:ea typeface="Arial"/>
                <a:cs typeface="Arial"/>
              </a:rPr>
              <a:t>Support configurable AI fallback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33576C-7313-4A36-AD28-DA72BBF2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905500"/>
            <a:ext cx="1619250" cy="257175"/>
          </a:xfrm>
          <a:prstGeom xmlns:a="http://schemas.openxmlformats.org/drawingml/2006/main" prst="roundRect">
            <a:avLst>
              <a:gd name="adj" fmla="val 48148"/>
            </a:avLst>
          </a:prstGeom>
          <a:solidFill xmlns:a="http://schemas.openxmlformats.org/drawingml/2006/main">
            <a:srgbClr val="0A2940"/>
          </a:solidFill>
          <a:ln xmlns:a="http://schemas.openxmlformats.org/drawingml/2006/main" w="9525">
            <a:solidFill>
              <a:srgbClr val="6FE7B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6517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6FE7B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FE7B6"/>
                </a:solidFill>
                <a:latin typeface="Arial"/>
                <a:ea typeface="Arial"/>
                <a:cs typeface="Arial"/>
              </a:rPr>
              <a:t>PLANNED / IMPLEMENTED</a:t>
            </a:r>
          </a:p>
        </p:txBody>
      </p:sp>
    </p:spTree>
    <p:extLst>
      <p:ext uri="{BB962C8B-B14F-4D97-AF65-F5344CB8AC3E}">
        <p14:creationId xmlns:p14="http://schemas.microsoft.com/office/powerpoint/2010/main" val="10064800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E0E9D6-7AAE-46D9-8F67-7BD89292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9FF"/>
          </a:solidFill>
          <a:ln xmlns:a="http://schemas.openxmlformats.org/drawingml/2006/main" w="0">
            <a:solidFill>
              <a:srgbClr val="2BD9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AF693-50B5-40B5-89E0-6BA07BBE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573A9-39D0-4547-99B5-92C5A6DD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6. Methodology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33347-5988-420F-B60B-AAA37B72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763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66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4F6DF-8621-47DF-8006-BEB7E5FB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6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8933F-C400-4BE8-8777-D3C1A2D4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JARVIS OS – Intelligent Voice-Controlled Desktop Assistant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E478F-061A-4744-A9B5-7CD01D57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92FE9-7808-436A-A3FD-21A14053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8354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Architecture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B6819-B9EF-427E-9C3E-D3AA1146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647825"/>
            <a:ext cx="171450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2BD9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F0FDB0-395E-4E1D-B340-0982E9FC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90750"/>
            <a:ext cx="21907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2BD9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Voice Command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7678EB-3E9B-441D-8FD0-B3F4684C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90825"/>
            <a:ext cx="21907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2BD9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Speech Recognition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7A8E59-5020-4EF1-AEE7-86C387AF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390900"/>
            <a:ext cx="28384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2D7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Command / Intent Analyzer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4D075D-1BC0-445F-8064-80513B18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990975"/>
            <a:ext cx="20955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8B6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AI Controller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269B3-E788-48CF-9FC3-9609CC47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86300"/>
            <a:ext cx="17145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8B6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9322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CEBFF"/>
                </a:solidFill>
                <a:latin typeface="Arial"/>
                <a:ea typeface="Arial"/>
                <a:cs typeface="Arial"/>
              </a:rPr>
              <a:t>Ollama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CEBFF"/>
                </a:solidFill>
                <a:latin typeface="Arial"/>
                <a:ea typeface="Arial"/>
                <a:cs typeface="Arial"/>
              </a:rPr>
              <a:t>Local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50E046-E57A-43FE-8F2A-8803448B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686300"/>
            <a:ext cx="17145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8B6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9322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CEBFF"/>
                </a:solidFill>
                <a:latin typeface="Arial"/>
                <a:ea typeface="Arial"/>
                <a:cs typeface="Arial"/>
              </a:rPr>
              <a:t>NVIDIA NIM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CEBFF"/>
                </a:solidFill>
                <a:latin typeface="Arial"/>
                <a:ea typeface="Arial"/>
                <a:cs typeface="Arial"/>
              </a:rPr>
              <a:t>Cloud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3FAF57-427E-47BA-BAD2-D3F72B0E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438775"/>
            <a:ext cx="20955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2D7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Task Planner</a:t>
            </a:r>
          </a:p>
        </p:txBody>
      </p:sp>
      <p:cxnSp>
        <p:nvCxnSpPr>
          <p:cNvPr id="54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286125" y="2009775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D9FF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286125" y="2590800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D9FF"/>
            </a:solidFill>
            <a:prstDash val="solid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286125" y="3190875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D9FF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286125" y="3790950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D9FF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1790700" y="4391025"/>
            <a:ext cx="1495425" cy="2952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8B6CFF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3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3286125" y="4391025"/>
            <a:ext cx="1495425" cy="2952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8B6CFF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4" idx="2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1790700" y="5200650"/>
            <a:ext cx="447675" cy="438150"/>
          </a:xfrm>
          <a:prstGeom xmlns:a="http://schemas.openxmlformats.org/drawingml/2006/main" prst="bentConnector5">
            <a:avLst>
              <a:gd name="adj1" fmla="val 0"/>
              <a:gd name="adj2" fmla="val 52174"/>
              <a:gd name="adj3" fmla="val 48936"/>
            </a:avLst>
          </a:prstGeom>
          <a:ln xmlns:a="http://schemas.openxmlformats.org/drawingml/2006/main" w="19050">
            <a:solidFill>
              <a:srgbClr val="2D7CFF"/>
            </a:solidFill>
            <a:prstDash val="soli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15" idx="2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4333875" y="5200650"/>
            <a:ext cx="447675" cy="438150"/>
          </a:xfrm>
          <a:prstGeom xmlns:a="http://schemas.openxmlformats.org/drawingml/2006/main" prst="bentConnector5">
            <a:avLst>
              <a:gd name="adj1" fmla="val 0"/>
              <a:gd name="adj2" fmla="val 52174"/>
              <a:gd name="adj3" fmla="val 48936"/>
            </a:avLst>
          </a:prstGeom>
          <a:ln xmlns:a="http://schemas.openxmlformats.org/drawingml/2006/main" w="19050">
            <a:solidFill>
              <a:srgbClr val="2D7CFF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69301B-E1DB-4C82-8921-19B1F170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90725"/>
            <a:ext cx="276225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6FE7B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6FE7B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FE7B6"/>
                </a:solidFill>
                <a:latin typeface="Arial"/>
                <a:ea typeface="Arial"/>
                <a:cs typeface="Arial"/>
              </a:rPr>
              <a:t>Action / Automation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CCF15E-85D1-4928-A854-85D75B34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9925"/>
            <a:ext cx="142875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6FE7B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9843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Windows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4F7180-4843-43DE-B1C9-FDE083AF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09925"/>
            <a:ext cx="142875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6FE7B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9843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Browser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D883E9-C1E4-45FC-8641-C0696C59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09925"/>
            <a:ext cx="142875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6FE7B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9843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Apps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1AA7C2-D785-458E-A059-432F17B0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00575"/>
            <a:ext cx="2000250" cy="428625"/>
          </a:xfrm>
          <a:prstGeom xmlns:a="http://schemas.openxmlformats.org/drawingml/2006/main" prst="roundRect">
            <a:avLst>
              <a:gd name="adj" fmla="val 31111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2BD9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Text / Voice Response</a:t>
            </a:r>
          </a:p>
        </p:txBody>
      </p:sp>
      <p:cxnSp>
        <p:nvCxnSpPr>
          <p:cNvPr id="67" name=""/>
          <p:cNvCxnSpPr>
            <a:stCxn xmlns:a="http://schemas.openxmlformats.org/drawingml/2006/main" id="16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 flipV="1">
            <a:off x="4333875" y="2200275"/>
            <a:ext cx="2905125" cy="3438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FE7B6"/>
            </a:solidFill>
            <a:prstDash val="solid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25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 flipH="1">
            <a:off x="7096125" y="2409825"/>
            <a:ext cx="1524000" cy="800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FE7B6"/>
            </a:solidFill>
            <a:prstDash val="solid"/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25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8620125" y="2409825"/>
            <a:ext cx="95250" cy="800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E7B6"/>
            </a:solidFill>
            <a:prstDash val="soli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25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8620125" y="2409825"/>
            <a:ext cx="1714500" cy="800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FE7B6"/>
            </a:solidFill>
            <a:prstDash val="solid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26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7096125" y="3743325"/>
            <a:ext cx="1714500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BD9FF"/>
            </a:solidFill>
            <a:prstDash val="solid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27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8715375" y="3743325"/>
            <a:ext cx="9525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D9FF"/>
            </a:solidFill>
            <a:prstDash val="solid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 flipH="1">
            <a:off x="8810625" y="3743325"/>
            <a:ext cx="1524000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BD9FF"/>
            </a:solidFill>
            <a:prstDash val="solid"/>
            <a:tailEnd type="triangle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770948-050E-434F-A479-2C609E1C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53050"/>
            <a:ext cx="3333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657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9DAE8"/>
                </a:solidFill>
                <a:latin typeface="Arial"/>
                <a:ea typeface="Arial"/>
                <a:cs typeface="Arial"/>
              </a:rPr>
              <a:t>1 Voice input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9DAE8"/>
                </a:solidFill>
                <a:latin typeface="Arial"/>
                <a:ea typeface="Arial"/>
                <a:cs typeface="Arial"/>
              </a:rPr>
              <a:t>2 Speech-to-text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9DAE8"/>
                </a:solidFill>
                <a:latin typeface="Arial"/>
                <a:ea typeface="Arial"/>
                <a:cs typeface="Arial"/>
              </a:rPr>
              <a:t>3 Intent understanding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9DAE8"/>
                </a:solidFill>
                <a:latin typeface="Arial"/>
                <a:ea typeface="Arial"/>
                <a:cs typeface="Arial"/>
              </a:rPr>
              <a:t>4 AI processing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9DAE8"/>
                </a:solidFill>
                <a:latin typeface="Arial"/>
                <a:ea typeface="Arial"/>
                <a:cs typeface="Arial"/>
              </a:rPr>
              <a:t>5 Task planning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9DAE8"/>
                </a:solidFill>
                <a:latin typeface="Arial"/>
                <a:ea typeface="Arial"/>
                <a:cs typeface="Arial"/>
              </a:rPr>
              <a:t>6 Desktop automation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9DAE8"/>
                </a:solidFill>
                <a:latin typeface="Arial"/>
                <a:ea typeface="Arial"/>
                <a:cs typeface="Arial"/>
              </a:rPr>
              <a:t>7 Response</a:t>
            </a:r>
          </a:p>
        </p:txBody>
      </p:sp>
    </p:spTree>
    <p:extLst>
      <p:ext uri="{BB962C8B-B14F-4D97-AF65-F5344CB8AC3E}">
        <p14:creationId xmlns:p14="http://schemas.microsoft.com/office/powerpoint/2010/main" val="1027366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76ED41-1120-4B2F-A0B0-27DC0796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9FF"/>
          </a:solidFill>
          <a:ln xmlns:a="http://schemas.openxmlformats.org/drawingml/2006/main" w="0">
            <a:solidFill>
              <a:srgbClr val="2BD9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47F81-99DA-4FDB-BE33-AB3EFF5A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SYSTEM WORKING / EXAMPLES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BDDFE9-F58C-477C-B013-F7B60C7B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How JARVIS OS 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714FB-715F-47D8-86C4-0567EDD5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763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66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45122D-C153-4F98-ADDA-748F8352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6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9D65D9-B3C9-41C0-80AE-5CD21872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JARVIS OS – Intelligent Voice-Controlled Desktop Assistant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65875-9E20-4306-A0B5-3D746363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E2DC9-3902-4C01-8259-41D5A354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79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Example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2E4F6-77FC-45E1-B4A3-295897DD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04975"/>
            <a:ext cx="49530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2BD9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AFF"/>
                </a:solidFill>
                <a:latin typeface="Arial"/>
                <a:ea typeface="Arial"/>
                <a:cs typeface="Arial"/>
              </a:rPr>
              <a:t>“Open Chrome and search for today’s weather.”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330A6-8E35-4739-A42C-73281E1A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19350"/>
            <a:ext cx="3048000" cy="342900"/>
          </a:xfrm>
          <a:prstGeom xmlns:a="http://schemas.openxmlformats.org/drawingml/2006/main" prst="roundRect">
            <a:avLst>
              <a:gd name="adj" fmla="val 38889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2BD9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72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Voice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160091-8708-471D-ADFC-93D6754D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38450"/>
            <a:ext cx="3048000" cy="342900"/>
          </a:xfrm>
          <a:prstGeom xmlns:a="http://schemas.openxmlformats.org/drawingml/2006/main" prst="roundRect">
            <a:avLst>
              <a:gd name="adj" fmla="val 38889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2BD9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72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Speech-to-Text</a:t>
            </a:r>
          </a:p>
        </p:txBody>
      </p:sp>
      <p:cxnSp>
        <p:nvCxnSpPr>
          <p:cNvPr id="50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143250" y="276225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D9FF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83490E-0AEC-4672-993A-FA7572B2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3048000" cy="342900"/>
          </a:xfrm>
          <a:prstGeom xmlns:a="http://schemas.openxmlformats.org/drawingml/2006/main" prst="roundRect">
            <a:avLst>
              <a:gd name="adj" fmla="val 38889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2D7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72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Intent Detection</a:t>
            </a:r>
          </a:p>
        </p:txBody>
      </p:sp>
      <p:cxnSp>
        <p:nvCxnSpPr>
          <p:cNvPr id="52" name=""/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143250" y="318135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CFF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941409-AEAD-4B4F-9339-4F06B2CF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76650"/>
            <a:ext cx="3048000" cy="342900"/>
          </a:xfrm>
          <a:prstGeom xmlns:a="http://schemas.openxmlformats.org/drawingml/2006/main" prst="roundRect">
            <a:avLst>
              <a:gd name="adj" fmla="val 38889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2D7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72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Action Planning</a:t>
            </a:r>
          </a:p>
        </p:txBody>
      </p:sp>
      <p:cxnSp>
        <p:nvCxnSpPr>
          <p:cNvPr id="54" name=""/>
          <p:cNvCxnSpPr>
            <a:stCxn xmlns:a="http://schemas.openxmlformats.org/drawingml/2006/main" id="13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3143250" y="360045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7CFF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214022-4EB2-4DFB-8740-DFB2BAD7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3048000" cy="342900"/>
          </a:xfrm>
          <a:prstGeom xmlns:a="http://schemas.openxmlformats.org/drawingml/2006/main" prst="roundRect">
            <a:avLst>
              <a:gd name="adj" fmla="val 38889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6FE7B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72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Open Chrome</a:t>
            </a:r>
          </a:p>
        </p:txBody>
      </p:sp>
      <p:cxnSp>
        <p:nvCxnSpPr>
          <p:cNvPr id="56" name=""/>
          <p:cNvCxnSpPr>
            <a:stCxn xmlns:a="http://schemas.openxmlformats.org/drawingml/2006/main" id="15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3143250" y="401955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E7B6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92A663-3905-4236-8974-19E5459A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3048000" cy="342900"/>
          </a:xfrm>
          <a:prstGeom xmlns:a="http://schemas.openxmlformats.org/drawingml/2006/main" prst="roundRect">
            <a:avLst>
              <a:gd name="adj" fmla="val 38889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6FE7B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72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Enter Search Query</a:t>
            </a:r>
          </a:p>
        </p:txBody>
      </p:sp>
      <p:cxnSp>
        <p:nvCxnSpPr>
          <p:cNvPr id="58" name=""/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3143250" y="443865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E7B6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B61E98-8F90-4A8A-886E-6281B44B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33950"/>
            <a:ext cx="3048000" cy="342900"/>
          </a:xfrm>
          <a:prstGeom xmlns:a="http://schemas.openxmlformats.org/drawingml/2006/main" prst="roundRect">
            <a:avLst>
              <a:gd name="adj" fmla="val 38889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6FE7B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72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Execute Search</a:t>
            </a:r>
          </a:p>
        </p:txBody>
      </p:sp>
      <p:cxnSp>
        <p:nvCxnSpPr>
          <p:cNvPr id="60" name=""/>
          <p:cNvCxnSpPr>
            <a:stCxn xmlns:a="http://schemas.openxmlformats.org/drawingml/2006/main" id="19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3143250" y="485775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E7B6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1CC245-9E30-4F46-9502-F48F1FF8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3048000" cy="342900"/>
          </a:xfrm>
          <a:prstGeom xmlns:a="http://schemas.openxmlformats.org/drawingml/2006/main" prst="roundRect">
            <a:avLst>
              <a:gd name="adj" fmla="val 38889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2BD9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72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cxnSp>
        <p:nvCxnSpPr>
          <p:cNvPr id="62" name=""/>
          <p:cNvCxnSpPr>
            <a:stCxn xmlns:a="http://schemas.openxmlformats.org/drawingml/2006/main" id="21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3143250" y="527685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D9FF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60D046-14BE-46B5-8037-AFE9ED46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829300"/>
            <a:ext cx="1619250" cy="257175"/>
          </a:xfrm>
          <a:prstGeom xmlns:a="http://schemas.openxmlformats.org/drawingml/2006/main" prst="roundRect">
            <a:avLst>
              <a:gd name="adj" fmla="val 48148"/>
            </a:avLst>
          </a:prstGeom>
          <a:solidFill xmlns:a="http://schemas.openxmlformats.org/drawingml/2006/main">
            <a:srgbClr val="0A2940"/>
          </a:solidFill>
          <a:ln xmlns:a="http://schemas.openxmlformats.org/drawingml/2006/main" w="9525">
            <a:solidFill>
              <a:srgbClr val="6FE7B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6517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6FE7B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FE7B6"/>
                </a:solidFill>
                <a:latin typeface="Arial"/>
                <a:ea typeface="Arial"/>
                <a:cs typeface="Arial"/>
              </a:rPr>
              <a:t>IMPLEMENTED ROUTING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063E0E-8EF9-4799-8C66-9F06A3B8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90650"/>
            <a:ext cx="238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79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Example 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D1BEBB-100F-4773-A3F4-81A4815E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04975"/>
            <a:ext cx="47625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8B6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AFF"/>
                </a:solidFill>
                <a:latin typeface="Arial"/>
                <a:ea typeface="Arial"/>
                <a:cs typeface="Arial"/>
              </a:rPr>
              <a:t>“Open WhatsApp and send Rahul a message saying I’ll reach college in 20 minutes.”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05BD58-C64B-4FE2-BDFC-0CE9F974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14625"/>
            <a:ext cx="3857625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8B6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Launch / focus WhatsApp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3F44E0-D50E-47D7-AF4F-896ED710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28975"/>
            <a:ext cx="3857625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8B6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Search for contact</a:t>
            </a:r>
          </a:p>
        </p:txBody>
      </p:sp>
      <p:cxnSp>
        <p:nvCxnSpPr>
          <p:cNvPr id="68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9053513" y="3076575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D9FF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E7E796-3459-444B-8976-AD17893F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43325"/>
            <a:ext cx="3857625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8B6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Type message</a:t>
            </a:r>
          </a:p>
        </p:txBody>
      </p:sp>
      <p:cxnSp>
        <p:nvCxnSpPr>
          <p:cNvPr id="70" name=""/>
          <p:cNvCxnSpPr>
            <a:stCxn xmlns:a="http://schemas.openxmlformats.org/drawingml/2006/main" id="29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9053513" y="3590925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D9FF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EE3909-CA2E-4FAA-A7E9-55A068B2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57675"/>
            <a:ext cx="3857625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F4C66A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4C6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C66A"/>
                </a:solidFill>
                <a:latin typeface="Arial"/>
                <a:ea typeface="Arial"/>
                <a:cs typeface="Arial"/>
              </a:rPr>
              <a:t>Ask for confirmation</a:t>
            </a:r>
          </a:p>
        </p:txBody>
      </p:sp>
      <p:cxnSp>
        <p:nvCxnSpPr>
          <p:cNvPr id="72" name=""/>
          <p:cNvCxnSpPr>
            <a:stCxn xmlns:a="http://schemas.openxmlformats.org/drawingml/2006/main" id="31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9053513" y="4105275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D9FF"/>
            </a:solidFill>
            <a:prstDash val="solid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C0C6EB-D7FC-484A-A907-8780F47A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772025"/>
            <a:ext cx="3857625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8B6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Send message</a:t>
            </a:r>
          </a:p>
        </p:txBody>
      </p:sp>
      <p:cxnSp>
        <p:nvCxnSpPr>
          <p:cNvPr id="74" name=""/>
          <p:cNvCxnSpPr>
            <a:stCxn xmlns:a="http://schemas.openxmlformats.org/drawingml/2006/main" id="33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9053513" y="4619625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D9FF"/>
            </a:solidFill>
            <a:prstDash val="solid"/>
            <a:tailEnd type="triangle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EA8640-2EEB-43A5-B30E-9794FD5C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562600"/>
            <a:ext cx="1619250" cy="257175"/>
          </a:xfrm>
          <a:prstGeom xmlns:a="http://schemas.openxmlformats.org/drawingml/2006/main" prst="roundRect">
            <a:avLst>
              <a:gd name="adj" fmla="val 48148"/>
            </a:avLst>
          </a:prstGeom>
          <a:solidFill xmlns:a="http://schemas.openxmlformats.org/drawingml/2006/main">
            <a:srgbClr val="0A2940"/>
          </a:solidFill>
          <a:ln xmlns:a="http://schemas.openxmlformats.org/drawingml/2006/main" w="9525">
            <a:solidFill>
              <a:srgbClr val="F4C66A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6517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4C66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4C66A"/>
                </a:solidFill>
                <a:latin typeface="Arial"/>
                <a:ea typeface="Arial"/>
                <a:cs typeface="Arial"/>
              </a:rPr>
              <a:t>REQUIRES APP + CONFIRMATION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8C0CD2-C6BD-412F-84A3-9E76D47F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038850"/>
            <a:ext cx="937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Actual behaviour depends on installed applications, access permissions and the current application interface.</a:t>
            </a:r>
          </a:p>
        </p:txBody>
      </p:sp>
    </p:spTree>
    <p:extLst>
      <p:ext uri="{BB962C8B-B14F-4D97-AF65-F5344CB8AC3E}">
        <p14:creationId xmlns:p14="http://schemas.microsoft.com/office/powerpoint/2010/main" val="10331189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5A321D-570C-46B5-A4EB-8098BC83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9FF"/>
          </a:solidFill>
          <a:ln xmlns:a="http://schemas.openxmlformats.org/drawingml/2006/main" w="0">
            <a:solidFill>
              <a:srgbClr val="2BD9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6CD160-FF81-4120-BBB8-7E778395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PROVIDER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850A5-A63A-4DF4-9B40-00E05BD7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AI Architecture – Local + Cloud Fallback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4A10D-4709-4111-B9CC-96BFFE71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763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66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9BDE51-42E7-4DED-AA9B-E1F18759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6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7B9C2-A04B-47B5-80CD-DE2E6A7E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JARVIS OS – Intelligent Voice-Controlled Desktop Assistant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0399E6-AF2F-4D94-8E7B-9A8CD5B6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865990-6489-4960-B105-D49A6FAF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668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79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Local processing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F621ED-62EC-4854-A7A1-AE5E53D4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47850"/>
            <a:ext cx="2857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8B6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Ollama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4993F7-647E-46CC-A1FE-232194D3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24125"/>
            <a:ext cx="2857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8B6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Local LLM</a:t>
            </a:r>
          </a:p>
        </p:txBody>
      </p:sp>
      <p:cxnSp>
        <p:nvCxnSpPr>
          <p:cNvPr id="42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476500" y="238125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6CFF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9B2C3F-A9DF-4565-8D23-7E406CC8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2857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2BD9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9264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Privacy / offline-capable processing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where supported</a:t>
            </a:r>
          </a:p>
        </p:txBody>
      </p:sp>
      <p:cxnSp>
        <p:nvCxnSpPr>
          <p:cNvPr id="44" name=""/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476500" y="305752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D9FF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55B724-E5D1-41DA-A0F5-CA737417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66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79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Additional cloud capability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338C44-CF7D-4CAB-99CE-29569335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47850"/>
            <a:ext cx="2857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8B6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NVIDIA NIM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5EFF61-83C3-4C57-A74B-3BE0CF1C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24125"/>
            <a:ext cx="2857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8B6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Cloud-hosted AI capability</a:t>
            </a:r>
          </a:p>
        </p:txBody>
      </p:sp>
      <p:cxnSp>
        <p:nvCxnSpPr>
          <p:cNvPr id="48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9048750" y="238125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6CFF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0FDE9A-43A1-4B5C-90A0-E0943CA8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00400"/>
            <a:ext cx="2857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2BD9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cxnSp>
        <p:nvCxnSpPr>
          <p:cNvPr id="50" name=""/>
          <p:cNvCxnSpPr>
            <a:stCxn xmlns:a="http://schemas.openxmlformats.org/drawingml/2006/main" id="16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9048750" y="305752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D9FF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D5C9AA-8F64-46F4-8566-FEF7C00B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885950"/>
            <a:ext cx="238125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2BD9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User Request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D56550-9BCC-479D-9D7A-F41DC4B7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67000"/>
            <a:ext cx="238125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8B6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AI Controller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FC3C0E-89D9-487C-A70C-361737D8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48050"/>
            <a:ext cx="30480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8B6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Try Local Model – Ollama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18B813-91D1-4A6D-84DE-BE9819F1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229100"/>
            <a:ext cx="200025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F4C66A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4C66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C66A"/>
                </a:solidFill>
                <a:latin typeface="Arial"/>
                <a:ea typeface="Arial"/>
                <a:cs typeface="Arial"/>
              </a:rPr>
              <a:t>Success?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35779C-6E06-4748-BC09-E2735385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67300"/>
            <a:ext cx="142875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6FE7B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6FE7B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FE7B6"/>
                </a:solidFill>
                <a:latin typeface="Arial"/>
                <a:ea typeface="Arial"/>
                <a:cs typeface="Arial"/>
              </a:rPr>
              <a:t>YES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6FE7B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FE7B6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94BCA0-4E0E-43F7-B308-F1EF2966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67300"/>
            <a:ext cx="142875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FF8191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819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8191"/>
                </a:solidFill>
                <a:latin typeface="Arial"/>
                <a:ea typeface="Arial"/>
                <a:cs typeface="Arial"/>
              </a:rPr>
              <a:t>NO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819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8191"/>
                </a:solidFill>
                <a:latin typeface="Arial"/>
                <a:ea typeface="Arial"/>
                <a:cs typeface="Arial"/>
              </a:rPr>
              <a:t>NVIDIA NIM</a:t>
            </a:r>
          </a:p>
        </p:txBody>
      </p:sp>
      <p:cxnSp>
        <p:nvCxnSpPr>
          <p:cNvPr id="57" name=""/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6096000" y="23050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D9FF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6096000" y="308610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D9FF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6096000" y="38671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D9FF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23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 flipH="1">
            <a:off x="4905375" y="4629150"/>
            <a:ext cx="1190625" cy="438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FE7B6"/>
            </a:solidFill>
            <a:prstDash val="soli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23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6096000" y="4629150"/>
            <a:ext cx="1190625" cy="438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FF8191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DF212A-C8E3-4C8A-AFC4-F693321E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007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Automatic failover is configuration-based. It operates when a fallback provider, valid credentials and AI_AUTO_FAILOVER are configured.</a:t>
            </a:r>
          </a:p>
        </p:txBody>
      </p:sp>
    </p:spTree>
    <p:extLst>
      <p:ext uri="{BB962C8B-B14F-4D97-AF65-F5344CB8AC3E}">
        <p14:creationId xmlns:p14="http://schemas.microsoft.com/office/powerpoint/2010/main" val="14232675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08C5A5-131A-4F97-9754-79DC622F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9FF"/>
          </a:solidFill>
          <a:ln xmlns:a="http://schemas.openxmlformats.org/drawingml/2006/main" w="0">
            <a:solidFill>
              <a:srgbClr val="2BD9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A54AE-CCDE-4922-9344-81E6BD20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WHAT THE SYSTEM DELIVERS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FA27F-310B-4E8F-B9CD-4D5A800F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7. Expected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CCAC8-30D9-4B24-8374-B19E0CB7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763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66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906D64-CC8E-4D1B-AE3F-D38EBF0F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6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D963D-5F2D-48E1-9E8F-2FD73093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JARVIS OS – Intelligent Voice-Controlled Desktop Assistant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C78EA3-4901-478F-BDD5-FE6CA9A5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38D38C-A71B-4AAF-86A4-FD6805C3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382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831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Functional outcomes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425A1B-C691-408A-A44D-3067DB82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76425"/>
            <a:ext cx="2143125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2BD9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Voice command recognition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D01AD-A0CC-4AA6-8143-4AE88C79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76425"/>
            <a:ext cx="2143125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2BD9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833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Natural-language command routing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A31E6B-4BFF-41D8-89EA-2E231A55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2143125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2BD9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Application launching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8C2790-477B-41E4-A9E3-E51F9A29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43175"/>
            <a:ext cx="2143125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2BD9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833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Web searching and browser actions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AA3BCF-5C70-4EB0-AA86-23FE2ADB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9925"/>
            <a:ext cx="2143125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6FE7B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9684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Desktop / system automation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257596-8EC0-4910-A2EA-ED8558F0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09925"/>
            <a:ext cx="2143125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6FE7B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File and folder operations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A8E0B6-8647-448C-AA17-D0A0F775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76675"/>
            <a:ext cx="2143125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6FE7B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Communication automation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027D9E-F555-4F44-8E84-ED21773B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76675"/>
            <a:ext cx="2143125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6FE7B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Text and voice responses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615A03-8241-4682-859B-510879FE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3827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831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AI outcomes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D59225-ECD6-4C2D-A1AB-139821F5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180975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8B6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CEBFF"/>
                </a:solidFill>
                <a:latin typeface="Arial"/>
                <a:ea typeface="Arial"/>
                <a:cs typeface="Arial"/>
              </a:rPr>
              <a:t>Ollama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CEBFF"/>
                </a:solidFill>
                <a:latin typeface="Arial"/>
                <a:ea typeface="Arial"/>
                <a:cs typeface="Arial"/>
              </a:rPr>
              <a:t>Local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89D4D2-B3F1-4BAD-B789-CAFEC9C5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52625"/>
            <a:ext cx="180975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8B6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CEBFF"/>
                </a:solidFill>
                <a:latin typeface="Arial"/>
                <a:ea typeface="Arial"/>
                <a:cs typeface="Arial"/>
              </a:rPr>
              <a:t>NVIDIA NIM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CEBFF"/>
                </a:solidFill>
                <a:latin typeface="Arial"/>
                <a:ea typeface="Arial"/>
                <a:cs typeface="Arial"/>
              </a:rPr>
              <a:t>Cloud capability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26235C-95FA-4B14-8225-5CE3E963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33750"/>
            <a:ext cx="180975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2D7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9072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Configurable fallback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cxnSp>
        <p:nvCxnSpPr>
          <p:cNvPr id="45" name=""/>
          <p:cNvCxnSpPr>
            <a:stCxn xmlns:a="http://schemas.openxmlformats.org/drawingml/2006/main" id="18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8143875" y="2657475"/>
            <a:ext cx="1190625" cy="6762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8B6CFF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9334500" y="2657475"/>
            <a:ext cx="1190625" cy="6762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8B6CFF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59139E-9E17-478E-8919-4CAE71B6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743450"/>
            <a:ext cx="42862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2BD9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46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FAFF"/>
                </a:solidFill>
                <a:latin typeface="Arial"/>
                <a:ea typeface="Arial"/>
                <a:cs typeface="Arial"/>
              </a:rPr>
              <a:t>Result: a desktop assistant designed to understand a request, select a safe action and return a clear response.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F39E4F-E030-4D8B-8C1C-3BF80849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934075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8465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Online services and optional AI features depend on the selected provider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16753070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2C02BA-D9CA-4B7C-A0EA-A1EFE5BB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9FF"/>
          </a:solidFill>
          <a:ln xmlns:a="http://schemas.openxmlformats.org/drawingml/2006/main" w="0">
            <a:solidFill>
              <a:srgbClr val="2BD9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68C86-C2FB-4912-9CEA-06C8AF69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DEVELOPMENT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BC085-76E7-4AE7-8DF8-AA1775DE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8. Plan of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5E7A7-27AD-41E7-98BA-FA9F0D8A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763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66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668151-FE45-43F9-8C16-8A2AD5CD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6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675A60-3900-4E37-830C-8EA52B4A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JARVIS OS – Intelligent Voice-Controlled Desktop Assistant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50E818-04A4-437F-B1A6-47EE5836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BB065-3C6D-4D18-A9BD-1A58D8DE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831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AE8"/>
                </a:solidFill>
                <a:latin typeface="Arial"/>
                <a:ea typeface="Arial"/>
                <a:cs typeface="Arial"/>
              </a:rPr>
              <a:t>Roadmap from initial study to project demonstration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06775-763B-40D9-B4E3-5959E517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190750"/>
            <a:ext cx="13335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2BD9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01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Requirement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5C0EE2-A346-40E7-AA8E-71DAA6F1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190750"/>
            <a:ext cx="13335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2D7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02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Literature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cxnSp>
        <p:nvCxnSpPr>
          <p:cNvPr id="47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933575" y="25812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C4664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AA1DCD-F607-4C85-9131-D43A1956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90750"/>
            <a:ext cx="13335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8B6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03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System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cxnSp>
        <p:nvCxnSpPr>
          <p:cNvPr id="49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533775" y="25812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C4664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5346B-56E0-4C8A-9F0D-FB38FDCD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190750"/>
            <a:ext cx="13335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6FE7B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04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Voice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Module</a:t>
            </a:r>
          </a:p>
        </p:txBody>
      </p:sp>
      <p:cxnSp>
        <p:nvCxnSpPr>
          <p:cNvPr id="51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133975" y="25812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C4664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D18EC5-D997-4981-A41D-A8ABC22E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90750"/>
            <a:ext cx="13335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F4C66A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05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AI / LLM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Integration</a:t>
            </a:r>
          </a:p>
        </p:txBody>
      </p:sp>
      <p:cxnSp>
        <p:nvCxnSpPr>
          <p:cNvPr id="53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734175" y="25812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C4664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FBAA50-DBAA-4256-A676-F957CDE9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190750"/>
            <a:ext cx="13335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2BD9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06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Ollama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Integration</a:t>
            </a:r>
          </a:p>
        </p:txBody>
      </p:sp>
      <p:cxnSp>
        <p:nvCxnSpPr>
          <p:cNvPr id="55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334375" y="25812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C4664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E2F2A4-63B4-488C-92B1-07B2196B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190750"/>
            <a:ext cx="13335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8B6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07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NVIDIA NIM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Integration</a:t>
            </a:r>
          </a:p>
        </p:txBody>
      </p:sp>
      <p:cxnSp>
        <p:nvCxnSpPr>
          <p:cNvPr id="57" name=""/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934575" y="25812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C4664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69A2DD-E006-4D22-9ABA-2E59EA01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000500"/>
            <a:ext cx="13335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2BD9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08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Desktop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Automation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862214-7633-4A54-AFFD-F3E756C6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000500"/>
            <a:ext cx="13335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2D7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09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Browser / App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Integration</a:t>
            </a:r>
          </a:p>
        </p:txBody>
      </p:sp>
      <p:cxnSp>
        <p:nvCxnSpPr>
          <p:cNvPr id="60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1933575" y="43910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C4664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B14D25-AC0F-4AB2-ABEC-C7079859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000500"/>
            <a:ext cx="13335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8B6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10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GUI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Development</a:t>
            </a:r>
          </a:p>
        </p:txBody>
      </p:sp>
      <p:cxnSp>
        <p:nvCxnSpPr>
          <p:cNvPr id="62" name=""/>
          <p:cNvCxnSpPr>
            <a:stCxn xmlns:a="http://schemas.openxmlformats.org/drawingml/2006/main" id="23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3533775" y="43910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C4664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394325-781B-45B6-8742-6C429F6B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000500"/>
            <a:ext cx="13335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6FE7B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11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Testing &amp;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Debugging</a:t>
            </a:r>
          </a:p>
        </p:txBody>
      </p:sp>
      <p:cxnSp>
        <p:nvCxnSpPr>
          <p:cNvPr id="64" name=""/>
          <p:cNvCxnSpPr>
            <a:stCxn xmlns:a="http://schemas.openxmlformats.org/drawingml/2006/main" id="25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5133975" y="43910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C4664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4A88DE-CB17-405A-A8D0-BEDD4E65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00500"/>
            <a:ext cx="13335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F4C66A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12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Final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Integration</a:t>
            </a:r>
          </a:p>
        </p:txBody>
      </p:sp>
      <p:cxnSp>
        <p:nvCxnSpPr>
          <p:cNvPr id="66" name=""/>
          <p:cNvCxnSpPr>
            <a:stCxn xmlns:a="http://schemas.openxmlformats.org/drawingml/2006/main" id="27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6734175" y="43910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C4664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F1F1CD-5B2F-49F0-84CB-8C7A6679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000500"/>
            <a:ext cx="13335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2BD9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13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Documentation</a:t>
            </a:r>
          </a:p>
        </p:txBody>
      </p:sp>
      <p:cxnSp>
        <p:nvCxnSpPr>
          <p:cNvPr id="68" name=""/>
          <p:cNvCxnSpPr>
            <a:stCxn xmlns:a="http://schemas.openxmlformats.org/drawingml/2006/main" id="29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8334375" y="43910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C4664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B3B112-2FE0-47FB-AE41-656624B4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4000500"/>
            <a:ext cx="13335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8B6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14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Final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Demonstration</a:t>
            </a:r>
          </a:p>
        </p:txBody>
      </p:sp>
      <p:cxnSp>
        <p:nvCxnSpPr>
          <p:cNvPr id="70" name=""/>
          <p:cNvCxnSpPr>
            <a:stCxn xmlns:a="http://schemas.openxmlformats.org/drawingml/2006/main" id="31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9934575" y="43910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C4664"/>
            </a:solidFill>
            <a:prstDash val="solid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20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 flipH="1">
            <a:off x="1266825" y="2971800"/>
            <a:ext cx="9601200" cy="1028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BD9FF"/>
            </a:solidFill>
            <a:prstDash val="solid"/>
            <a:tail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72E694-0BD4-4786-BA42-C04716BE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102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8354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8CEBFF"/>
                </a:solidFill>
                <a:latin typeface="Arial"/>
                <a:ea typeface="Arial"/>
                <a:cs typeface="Arial"/>
              </a:rPr>
              <a:t>Each phase produces evidence for the next phase: design decisions, modules, integration results, tests, documentation and a live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8312153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F2B53A-783E-48CA-8820-9C0EC7B7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9FF"/>
          </a:solidFill>
          <a:ln xmlns:a="http://schemas.openxmlformats.org/drawingml/2006/main" w="0">
            <a:solidFill>
              <a:srgbClr val="2BD9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1F333-CFE7-4B99-BD94-4DF99C8F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HARDWARE AND SOFTWARE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08B72-523E-4194-BD7E-9E5AABE8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9. List of Components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5E9FC-CE36-4A2D-B36D-B9912978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763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66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D315AA-AF7C-4D37-A60A-E6A67C9F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6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596AF0-56C1-422B-82AD-2B581FEC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JARVIS OS – Intelligent Voice-Controlled Desktop Assistant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AA5E70-5202-4E5D-B523-E7F1B982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7EF948-5F62-435B-BE39-260FA0D3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3827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79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Hardware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8F5515-7C8D-4399-B94B-6DE5E4F4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76425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000"/>
              </a:spcAft>
              <a:buNone/>
              <a:defRPr sz="1575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C9DAE8"/>
                </a:solidFill>
                <a:latin typeface="Arial"/>
                <a:ea typeface="Arial"/>
                <a:cs typeface="Arial"/>
              </a:rPr>
              <a:t>Laptop or desktop computer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000"/>
              </a:spcAft>
              <a:buNone/>
              <a:defRPr sz="1575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C9DAE8"/>
                </a:solidFill>
                <a:latin typeface="Arial"/>
                <a:ea typeface="Arial"/>
                <a:cs typeface="Arial"/>
              </a:rPr>
              <a:t>Microphone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000"/>
              </a:spcAft>
              <a:buNone/>
              <a:defRPr sz="1575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C9DAE8"/>
                </a:solidFill>
                <a:latin typeface="Arial"/>
                <a:ea typeface="Arial"/>
                <a:cs typeface="Arial"/>
              </a:rPr>
              <a:t>Speakers or headphones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000"/>
              </a:spcAft>
              <a:buNone/>
              <a:defRPr sz="1575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C9DAE8"/>
                </a:solidFill>
                <a:latin typeface="Arial"/>
                <a:ea typeface="Arial"/>
                <a:cs typeface="Arial"/>
              </a:rPr>
              <a:t>Internet connection where online services are used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889FE-8D15-43A2-BD15-D1520BAC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3827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79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Software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317432-3EF9-47D7-A1B2-C4DBFBB8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76425"/>
            <a:ext cx="5048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28575" rIns="28575" bIns="28575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425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C9DAE8"/>
                </a:solidFill>
                <a:latin typeface="Arial"/>
                <a:ea typeface="Arial"/>
                <a:cs typeface="Arial"/>
              </a:rPr>
              <a:t>Python with standard-library modules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425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C9DAE8"/>
                </a:solidFill>
                <a:latin typeface="Arial"/>
                <a:ea typeface="Arial"/>
                <a:cs typeface="Arial"/>
              </a:rPr>
              <a:t>SpeechRecognition 3.17.0 and PyAudio 0.2.14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425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C9DAE8"/>
                </a:solidFill>
                <a:latin typeface="Arial"/>
                <a:ea typeface="Arial"/>
                <a:cs typeface="Arial"/>
              </a:rPr>
              <a:t>Optional psutil for live system metrics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425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C9DAE8"/>
                </a:solidFill>
                <a:latin typeface="Arial"/>
                <a:ea typeface="Arial"/>
                <a:cs typeface="Arial"/>
              </a:rPr>
              <a:t>HTML, CSS and JavaScript web HUD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425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C9DAE8"/>
                </a:solidFill>
                <a:latin typeface="Arial"/>
                <a:ea typeface="Arial"/>
                <a:cs typeface="Arial"/>
              </a:rPr>
              <a:t>Windows PowerShell / ctypes for PC-control functions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425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C9DAE8"/>
                </a:solidFill>
                <a:latin typeface="Arial"/>
                <a:ea typeface="Arial"/>
                <a:cs typeface="Arial"/>
              </a:rPr>
              <a:t>Ollama local LLM and NVIDIA NIM API support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425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C9DAE8"/>
                </a:solidFill>
                <a:latin typeface="Arial"/>
                <a:ea typeface="Arial"/>
                <a:cs typeface="Arial"/>
              </a:rPr>
              <a:t>.env configuration and JSON local storage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700"/>
              </a:spcAft>
              <a:buNone/>
              <a:defRPr sz="1425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C9DAE8"/>
                </a:solidFill>
                <a:latin typeface="Arial"/>
                <a:ea typeface="Arial"/>
                <a:cs typeface="Arial"/>
              </a:rPr>
              <a:t>Native text-to-speech and configured browser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5BF017-0289-420F-A26C-4BB3BB5A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72125"/>
            <a:ext cx="91440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1C4664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8619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8CEBFF"/>
                </a:solidFill>
                <a:latin typeface="Arial"/>
                <a:ea typeface="Arial"/>
                <a:cs typeface="Arial"/>
              </a:rPr>
              <a:t>Component choice follows a modular design: new skills and providers can be added without rebuilding the entire assistant.</a:t>
            </a:r>
          </a:p>
        </p:txBody>
      </p:sp>
    </p:spTree>
    <p:extLst>
      <p:ext uri="{BB962C8B-B14F-4D97-AF65-F5344CB8AC3E}">
        <p14:creationId xmlns:p14="http://schemas.microsoft.com/office/powerpoint/2010/main" val="5630317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0B0B73-5C5C-47EA-A7E1-C3916283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9FF"/>
          </a:solidFill>
          <a:ln xmlns:a="http://schemas.openxmlformats.org/drawingml/2006/main" w="0">
            <a:solidFill>
              <a:srgbClr val="2BD9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DDFDE-C77F-4188-9EF4-B926BD53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DEPLOYMENT REQUIREMENTS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92EAEB-6F69-4F7A-B534-4BC47B3D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System Requirements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08B4A-EC21-4032-B08C-1B8785E3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763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66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00A8B-C4D0-4A9E-BEA2-720D1FDF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6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7A3A2E-D415-4052-A34A-73FF5980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JARVIS OS – Intelligent Voice-Controlled Desktop Assistant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1109C-DAC3-4685-B50E-14C18DAD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EC8A07-F670-459B-8399-7EB015BB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3827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831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Hardware requirements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4953000" cy="30003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76500"/>
                <a:gridCol w="2476500"/>
              </a:tblGrid>
              <a:tr h="5000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8CEBFF"/>
                          </a:solidFill>
                          <a:latin typeface="Arial"/>
                          <a:ea typeface="Arial"/>
                          <a:cs typeface="Arial"/>
                        </a:rPr>
                        <a:t>Item</a:t>
                      </a:r>
                    </a:p>
                  </a:txBody>
                  <a:tcPr marL="91440" marR="91440" marT="45720" marB="45720">
                    <a:solidFill>
                      <a:srgbClr val="0C223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8CEBFF"/>
                          </a:solidFill>
                          <a:latin typeface="Arial"/>
                          <a:ea typeface="Arial"/>
                          <a:cs typeface="Arial"/>
                        </a:rPr>
                        <a:t>Requirement</a:t>
                      </a:r>
                    </a:p>
                  </a:txBody>
                  <a:tcPr marL="91440" marR="91440" marT="45720" marB="45720">
                    <a:solidFill>
                      <a:srgbClr val="0C2239"/>
                    </a:solidFill>
                  </a:tcPr>
                </a:tc>
              </a:tr>
              <a:tr h="5000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Processor</a:t>
                      </a:r>
                    </a:p>
                  </a:txBody>
                  <a:tcPr marL="91440" marR="91440" marT="45720" marB="45720">
                    <a:solidFill>
                      <a:srgbClr val="0A182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64-bit processor; local-model capacity depends on the selected Ollama model</a:t>
                      </a:r>
                    </a:p>
                  </a:txBody>
                  <a:tcPr marL="91440" marR="91440" marT="45720" marB="45720">
                    <a:solidFill>
                      <a:srgbClr val="0A1828"/>
                    </a:solidFill>
                  </a:tcPr>
                </a:tc>
              </a:tr>
              <a:tr h="5000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Memory</a:t>
                      </a:r>
                    </a:p>
                  </a:txBody>
                  <a:tcPr marL="91440" marR="91440" marT="45720" marB="45720">
                    <a:solidFill>
                      <a:srgbClr val="0A1B2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No fixed minimum in the project; select RAM according to local-model size</a:t>
                      </a:r>
                    </a:p>
                  </a:txBody>
                  <a:tcPr marL="91440" marR="91440" marT="45720" marB="45720">
                    <a:solidFill>
                      <a:srgbClr val="0A1B2E"/>
                    </a:solidFill>
                  </a:tcPr>
                </a:tc>
              </a:tr>
              <a:tr h="5000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Storage</a:t>
                      </a:r>
                    </a:p>
                  </a:txBody>
                  <a:tcPr marL="91440" marR="91440" marT="45720" marB="45720">
                    <a:solidFill>
                      <a:srgbClr val="0A182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Application files plus local-model storage where Ollama is used</a:t>
                      </a:r>
                    </a:p>
                  </a:txBody>
                  <a:tcPr marL="91440" marR="91440" marT="45720" marB="45720">
                    <a:solidFill>
                      <a:srgbClr val="0A1828"/>
                    </a:solidFill>
                  </a:tcPr>
                </a:tc>
              </a:tr>
              <a:tr h="5000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Audio</a:t>
                      </a:r>
                    </a:p>
                  </a:txBody>
                  <a:tcPr marL="91440" marR="91440" marT="45720" marB="45720">
                    <a:solidFill>
                      <a:srgbClr val="0A1B2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Microphone for voice input; speakers/headphones for voice output</a:t>
                      </a:r>
                    </a:p>
                  </a:txBody>
                  <a:tcPr marL="91440" marR="91440" marT="45720" marB="45720">
                    <a:solidFill>
                      <a:srgbClr val="0A1B2E"/>
                    </a:solidFill>
                  </a:tcPr>
                </a:tc>
              </a:tr>
              <a:tr h="5000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Network</a:t>
                      </a:r>
                    </a:p>
                  </a:txBody>
                  <a:tcPr marL="91440" marR="91440" marT="45720" marB="45720">
                    <a:solidFill>
                      <a:srgbClr val="0A182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Internet required for cloud AI and online services</a:t>
                      </a:r>
                    </a:p>
                  </a:txBody>
                  <a:tcPr marL="91440" marR="91440" marT="45720" marB="45720">
                    <a:solidFill>
                      <a:srgbClr val="0A1828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B517D-6836-40F6-AFAD-A2F36BB0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43827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831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Software requirements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6477000" y="1809750"/>
          <a:ext xmlns:a="http://schemas.openxmlformats.org/drawingml/2006/main" cx="4953000" cy="33813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76500"/>
                <a:gridCol w="2476500"/>
              </a:tblGrid>
              <a:tr h="48305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8CEBFF"/>
                          </a:solidFill>
                          <a:latin typeface="Arial"/>
                          <a:ea typeface="Arial"/>
                          <a:cs typeface="Arial"/>
                        </a:rPr>
                        <a:t>Item</a:t>
                      </a:r>
                    </a:p>
                  </a:txBody>
                  <a:tcPr marL="91440" marR="91440" marT="45720" marB="45720">
                    <a:solidFill>
                      <a:srgbClr val="0C223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8CEBFF"/>
                          </a:solidFill>
                          <a:latin typeface="Arial"/>
                          <a:ea typeface="Arial"/>
                          <a:cs typeface="Arial"/>
                        </a:rPr>
                        <a:t>Requirement</a:t>
                      </a:r>
                    </a:p>
                  </a:txBody>
                  <a:tcPr marL="91440" marR="91440" marT="45720" marB="45720">
                    <a:solidFill>
                      <a:srgbClr val="0C2239"/>
                    </a:solidFill>
                  </a:tcPr>
                </a:tc>
              </a:tr>
              <a:tr h="48305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Operating system</a:t>
                      </a:r>
                    </a:p>
                  </a:txBody>
                  <a:tcPr marL="91440" marR="91440" marT="45720" marB="45720">
                    <a:solidFill>
                      <a:srgbClr val="0A182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Windows for the full PC-control feature set</a:t>
                      </a:r>
                    </a:p>
                  </a:txBody>
                  <a:tcPr marL="91440" marR="91440" marT="45720" marB="45720">
                    <a:solidFill>
                      <a:srgbClr val="0A1828"/>
                    </a:solidFill>
                  </a:tcPr>
                </a:tc>
              </a:tr>
              <a:tr h="48305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Python</a:t>
                      </a:r>
                    </a:p>
                  </a:txBody>
                  <a:tcPr marL="91440" marR="91440" marT="45720" marB="45720">
                    <a:solidFill>
                      <a:srgbClr val="0A1B2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Python 3.x</a:t>
                      </a:r>
                    </a:p>
                  </a:txBody>
                  <a:tcPr marL="91440" marR="91440" marT="45720" marB="45720">
                    <a:solidFill>
                      <a:srgbClr val="0A1B2E"/>
                    </a:solidFill>
                  </a:tcPr>
                </a:tc>
              </a:tr>
              <a:tr h="48305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Packages</a:t>
                      </a:r>
                    </a:p>
                  </a:txBody>
                  <a:tcPr marL="91440" marR="91440" marT="45720" marB="45720">
                    <a:solidFill>
                      <a:srgbClr val="0A182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SpeechRecognition 3.17.0; PyAudio 0.2.14; psutil</a:t>
                      </a:r>
                    </a:p>
                  </a:txBody>
                  <a:tcPr marL="91440" marR="91440" marT="45720" marB="45720">
                    <a:solidFill>
                      <a:srgbClr val="0A1828"/>
                    </a:solidFill>
                  </a:tcPr>
                </a:tc>
              </a:tr>
              <a:tr h="48305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Local AI</a:t>
                      </a:r>
                    </a:p>
                  </a:txBody>
                  <a:tcPr marL="91440" marR="91440" marT="45720" marB="45720">
                    <a:solidFill>
                      <a:srgbClr val="0A1B2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Ollama plus a selected downloaded model, if enabled</a:t>
                      </a:r>
                    </a:p>
                  </a:txBody>
                  <a:tcPr marL="91440" marR="91440" marT="45720" marB="45720">
                    <a:solidFill>
                      <a:srgbClr val="0A1B2E"/>
                    </a:solidFill>
                  </a:tcPr>
                </a:tc>
              </a:tr>
              <a:tr h="48305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Cloud AI</a:t>
                      </a:r>
                    </a:p>
                  </a:txBody>
                  <a:tcPr marL="91440" marR="91440" marT="45720" marB="45720">
                    <a:solidFill>
                      <a:srgbClr val="0A182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NVIDIA NIM API key, if enabled</a:t>
                      </a:r>
                    </a:p>
                  </a:txBody>
                  <a:tcPr marL="91440" marR="91440" marT="45720" marB="45720">
                    <a:solidFill>
                      <a:srgbClr val="0A1828"/>
                    </a:solidFill>
                  </a:tcPr>
                </a:tc>
              </a:tr>
              <a:tr h="483054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Browser</a:t>
                      </a:r>
                    </a:p>
                  </a:txBody>
                  <a:tcPr marL="91440" marR="91440" marT="45720" marB="45720">
                    <a:solidFill>
                      <a:srgbClr val="0A1B2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Configured/default browser for web actions</a:t>
                      </a:r>
                    </a:p>
                  </a:txBody>
                  <a:tcPr marL="91440" marR="91440" marT="45720" marB="45720">
                    <a:solidFill>
                      <a:srgbClr val="0A1B2E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BF5859-E546-4EB3-87EE-FDEE9455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435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8403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Optional features require their own configuration and compatible hardware or services.</a:t>
            </a:r>
          </a:p>
        </p:txBody>
      </p:sp>
    </p:spTree>
    <p:extLst>
      <p:ext uri="{BB962C8B-B14F-4D97-AF65-F5344CB8AC3E}">
        <p14:creationId xmlns:p14="http://schemas.microsoft.com/office/powerpoint/2010/main" val="13879804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526BBA-192C-45E8-8F4D-FD68C664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9FF"/>
          </a:solidFill>
          <a:ln xmlns:a="http://schemas.openxmlformats.org/drawingml/2006/main" w="0">
            <a:solidFill>
              <a:srgbClr val="2BD9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03F17-9B80-4DA4-8401-61FFBEE9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COST ESTIMATE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B2382-5B0C-47AD-8BEE-22F80E9F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10. Project Expenditure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D6307-0313-4E8F-88FA-4E0BAF4A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763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66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3DBCD7-DB40-4FD1-B771-CEE3FF4B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6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35E4FB-FCCA-4186-A668-D53C72ED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JARVIS OS – Intelligent Voice-Controlled Desktop Assistant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42928-B39D-49B6-8F52-114E72DD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7EA295-CA2E-4D03-848E-D2DA5DC1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873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C6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C66A"/>
                </a:solidFill>
                <a:latin typeface="Arial"/>
                <a:ea typeface="Arial"/>
                <a:cs typeface="Arial"/>
              </a:rPr>
              <a:t>Use actual values in the ‘To be filled’ rows before final submission.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1809750" y="1809750"/>
          <a:ext xmlns:a="http://schemas.openxmlformats.org/drawingml/2006/main" cx="8572500" cy="3714750"/>
        </p:xfrm>
        <a:graphic xmlns:a="http://schemas.openxmlformats.org/drawingml/2006/main">
          <a:graphicData uri="http://schemas.openxmlformats.org/drawingml/2006/table">
            <a:tbl>
              <a:tblPr firstRow="1" lastRow="1" bandRow="1"/>
              <a:tblGrid>
                <a:gridCol w="4286250"/>
                <a:gridCol w="4286250"/>
              </a:tblGrid>
              <a:tr h="33770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8CEB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1440" marR="91440" marT="45720" marB="45720">
                    <a:solidFill>
                      <a:srgbClr val="0C2239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8CEBFF"/>
                          </a:solidFill>
                          <a:latin typeface="Arial"/>
                          <a:ea typeface="Arial"/>
                          <a:cs typeface="Arial"/>
                        </a:rPr>
                        <a:t>Approximate Cost</a:t>
                      </a:r>
                    </a:p>
                  </a:txBody>
                  <a:tcPr marL="91440" marR="91440" marT="45720" marB="45720">
                    <a:solidFill>
                      <a:srgbClr val="0C2239"/>
                    </a:solidFill>
                  </a:tcPr>
                </a:tc>
              </a:tr>
              <a:tr h="33770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Laptop / PC</a:t>
                      </a:r>
                    </a:p>
                  </a:txBody>
                  <a:tcPr marL="91440" marR="91440" marT="45720" marB="45720">
                    <a:solidFill>
                      <a:srgbClr val="0A182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Existing</a:t>
                      </a:r>
                    </a:p>
                  </a:txBody>
                  <a:tcPr marL="91440" marR="91440" marT="45720" marB="45720">
                    <a:solidFill>
                      <a:srgbClr val="0A1828"/>
                    </a:solidFill>
                  </a:tcPr>
                </a:tc>
              </a:tr>
              <a:tr h="33770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Microphone</a:t>
                      </a:r>
                    </a:p>
                  </a:txBody>
                  <a:tcPr marL="91440" marR="91440" marT="45720" marB="45720">
                    <a:solidFill>
                      <a:srgbClr val="0A1B2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To be filled</a:t>
                      </a:r>
                    </a:p>
                  </a:txBody>
                  <a:tcPr marL="91440" marR="91440" marT="45720" marB="45720">
                    <a:solidFill>
                      <a:srgbClr val="0A1B2E"/>
                    </a:solidFill>
                  </a:tcPr>
                </a:tc>
              </a:tr>
              <a:tr h="33770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Internet / Data</a:t>
                      </a:r>
                    </a:p>
                  </a:txBody>
                  <a:tcPr marL="91440" marR="91440" marT="45720" marB="45720">
                    <a:solidFill>
                      <a:srgbClr val="0A182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To be filled</a:t>
                      </a:r>
                    </a:p>
                  </a:txBody>
                  <a:tcPr marL="91440" marR="91440" marT="45720" marB="45720">
                    <a:solidFill>
                      <a:srgbClr val="0A1828"/>
                    </a:solidFill>
                  </a:tcPr>
                </a:tc>
              </a:tr>
              <a:tr h="33770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Software / open-source libraries</a:t>
                      </a:r>
                    </a:p>
                  </a:txBody>
                  <a:tcPr marL="91440" marR="91440" marT="45720" marB="45720">
                    <a:solidFill>
                      <a:srgbClr val="0A1B2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₹0</a:t>
                      </a:r>
                    </a:p>
                  </a:txBody>
                  <a:tcPr marL="91440" marR="91440" marT="45720" marB="45720">
                    <a:solidFill>
                      <a:srgbClr val="0A1B2E"/>
                    </a:solidFill>
                  </a:tcPr>
                </a:tc>
              </a:tr>
              <a:tr h="33770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Python</a:t>
                      </a:r>
                    </a:p>
                  </a:txBody>
                  <a:tcPr marL="91440" marR="91440" marT="45720" marB="45720">
                    <a:solidFill>
                      <a:srgbClr val="0A182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₹0</a:t>
                      </a:r>
                    </a:p>
                  </a:txBody>
                  <a:tcPr marL="91440" marR="91440" marT="45720" marB="45720">
                    <a:solidFill>
                      <a:srgbClr val="0A1828"/>
                    </a:solidFill>
                  </a:tcPr>
                </a:tc>
              </a:tr>
              <a:tr h="33770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Ollama</a:t>
                      </a:r>
                    </a:p>
                  </a:txBody>
                  <a:tcPr marL="91440" marR="91440" marT="45720" marB="45720">
                    <a:solidFill>
                      <a:srgbClr val="0A1B2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₹0</a:t>
                      </a:r>
                    </a:p>
                  </a:txBody>
                  <a:tcPr marL="91440" marR="91440" marT="45720" marB="45720">
                    <a:solidFill>
                      <a:srgbClr val="0A1B2E"/>
                    </a:solidFill>
                  </a:tcPr>
                </a:tc>
              </a:tr>
              <a:tr h="33770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Development tools</a:t>
                      </a:r>
                    </a:p>
                  </a:txBody>
                  <a:tcPr marL="91440" marR="91440" marT="45720" marB="45720">
                    <a:solidFill>
                      <a:srgbClr val="0A182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₹0</a:t>
                      </a:r>
                    </a:p>
                  </a:txBody>
                  <a:tcPr marL="91440" marR="91440" marT="45720" marB="45720">
                    <a:solidFill>
                      <a:srgbClr val="0A1828"/>
                    </a:solidFill>
                  </a:tcPr>
                </a:tc>
              </a:tr>
              <a:tr h="33770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NVIDIA NIM API</a:t>
                      </a:r>
                    </a:p>
                  </a:txBody>
                  <a:tcPr marL="91440" marR="91440" marT="45720" marB="45720">
                    <a:solidFill>
                      <a:srgbClr val="0A1B2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Optional; usage-based if enabled</a:t>
                      </a:r>
                    </a:p>
                  </a:txBody>
                  <a:tcPr marL="91440" marR="91440" marT="45720" marB="45720">
                    <a:solidFill>
                      <a:srgbClr val="0A1B2E"/>
                    </a:solidFill>
                  </a:tcPr>
                </a:tc>
              </a:tr>
              <a:tr h="33770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Miscellaneous</a:t>
                      </a:r>
                    </a:p>
                  </a:txBody>
                  <a:tcPr marL="91440" marR="91440" marT="45720" marB="45720">
                    <a:solidFill>
                      <a:srgbClr val="0A182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C9DAE8"/>
                          </a:solidFill>
                          <a:latin typeface="Arial"/>
                          <a:ea typeface="Arial"/>
                          <a:cs typeface="Arial"/>
                        </a:rPr>
                        <a:t>To be filled</a:t>
                      </a:r>
                    </a:p>
                  </a:txBody>
                  <a:tcPr marL="91440" marR="91440" marT="45720" marB="45720">
                    <a:solidFill>
                      <a:srgbClr val="0A1828"/>
                    </a:solidFill>
                  </a:tcPr>
                </a:tc>
              </a:tr>
              <a:tr h="33770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3FAFF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11355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3FAFF"/>
                          </a:solidFill>
                          <a:latin typeface="Arial"/>
                          <a:ea typeface="Arial"/>
                          <a:cs typeface="Arial"/>
                        </a:rPr>
                        <a:t>To be filled</a:t>
                      </a:r>
                    </a:p>
                  </a:txBody>
                  <a:tcPr marL="91440" marR="91440" marT="45720" marB="45720">
                    <a:solidFill>
                      <a:srgbClr val="113553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3B03F3-EC54-4C40-A7D4-4E7F2083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838825"/>
            <a:ext cx="771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The deck preserves unknown costs as placeholders instead of inventing expenses.</a:t>
            </a:r>
          </a:p>
        </p:txBody>
      </p:sp>
    </p:spTree>
    <p:extLst>
      <p:ext uri="{BB962C8B-B14F-4D97-AF65-F5344CB8AC3E}">
        <p14:creationId xmlns:p14="http://schemas.microsoft.com/office/powerpoint/2010/main" val="5488951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63BBCC-44E0-4CBC-A939-F4ACF2E2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9FF"/>
          </a:solidFill>
          <a:ln xmlns:a="http://schemas.openxmlformats.org/drawingml/2006/main" w="0">
            <a:solidFill>
              <a:srgbClr val="2BD9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48E17F-7ECA-417F-B066-A8FA688D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PROJECT BENEFITS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B4233-45EF-4581-B3AA-A90CF4B1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Advantages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5921D-9579-4AEA-A0D3-F3275A7C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763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66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A0E86-CF3F-4F59-A0A1-61095093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6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A439B-75BE-43EC-9E21-D6486D99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JARVIS OS – Intelligent Voice-Controlled Desktop Assistant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5F081-1B23-40AE-B4A0-62F37A3F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132F39-8A2D-4C29-9913-32331F1B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71625"/>
            <a:ext cx="433387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2BD9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Natural voice interaction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E5A70C-994A-4D99-AC8A-894D5F94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71625"/>
            <a:ext cx="433387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2BD9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Hands-free computer interaction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E0B49-0048-4152-8641-582C0F38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71725"/>
            <a:ext cx="433387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2D7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Automation of repetitive tasks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835F92-F0D3-4163-98E7-983397CB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71725"/>
            <a:ext cx="433387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2D7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AI-powered reasoning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BEA7C0-4F22-4621-BB0A-566CE7D3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71825"/>
            <a:ext cx="433387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8B6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Local AI capability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694343-AABE-4628-97F3-7F8C3101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71825"/>
            <a:ext cx="433387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8B6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Extensible architecture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5DE091-5526-4306-9564-EFBC2797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71925"/>
            <a:ext cx="433387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6FE7B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Faster task execution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91010E-5AA6-4E19-B7D3-7F421892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71925"/>
            <a:ext cx="433387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6FE7B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Multiple application integration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E972FA-7207-462A-A86E-2610DB17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72025"/>
            <a:ext cx="433387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F4C66A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Multi-step command support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3810E2-9131-4C2F-84FB-B579E4C9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72025"/>
            <a:ext cx="433387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F4C66A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Reduced manual operations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CA5208-69C3-47E7-B34A-44A8121D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8769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CEBFF"/>
                </a:solidFill>
                <a:latin typeface="Arial"/>
                <a:ea typeface="Arial"/>
                <a:cs typeface="Arial"/>
              </a:rPr>
              <a:t>The system’s modular structure also supports future skills, providers and integrations.</a:t>
            </a:r>
          </a:p>
        </p:txBody>
      </p:sp>
    </p:spTree>
    <p:extLst>
      <p:ext uri="{BB962C8B-B14F-4D97-AF65-F5344CB8AC3E}">
        <p14:creationId xmlns:p14="http://schemas.microsoft.com/office/powerpoint/2010/main" val="204481256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C98F34-29FA-4F50-93F1-2662D7B9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9FF"/>
          </a:solidFill>
          <a:ln xmlns:a="http://schemas.openxmlformats.org/drawingml/2006/main" w="0">
            <a:solidFill>
              <a:srgbClr val="2BD9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0A868-249D-4DD1-A3A0-D1C4B28A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CURRENT CONSTRAINTS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5831F-C925-414C-8380-0B0B0C53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C10B7-01FE-47B6-99E0-653FFF44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763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66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10F3B6-AEC7-432A-9A3E-1E0EA523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6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80686-8E5C-4679-BB76-406AD13D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JARVIS OS – Intelligent Voice-Controlled Desktop Assistant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7B08E6-43D6-4FEC-945F-0A4388A0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0A2894-EF08-41A0-AF1F-6CBE9026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48250" cy="981075"/>
          </a:xfrm>
          <a:prstGeom xmlns:a="http://schemas.openxmlformats.org/drawingml/2006/main" prst="roundRect">
            <a:avLst>
              <a:gd name="adj" fmla="val 13592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F4C6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8FE1B-C942-4A64-9441-10A4E3E1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811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8354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CEBFF"/>
                </a:solidFill>
                <a:latin typeface="Arial"/>
                <a:ea typeface="Arial"/>
                <a:cs typeface="Arial"/>
              </a:rPr>
              <a:t>Voice recognition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145EF0-D4AA-4D2B-BB1C-62B2F164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8597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22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AE8"/>
                </a:solidFill>
                <a:latin typeface="Arial"/>
                <a:ea typeface="Arial"/>
                <a:cs typeface="Arial"/>
              </a:rPr>
              <a:t>Background noise and microphone quality can affect speech recognition.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804494-FA70-43BF-9649-73C8B70F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38300"/>
            <a:ext cx="5048250" cy="981075"/>
          </a:xfrm>
          <a:prstGeom xmlns:a="http://schemas.openxmlformats.org/drawingml/2006/main" prst="roundRect">
            <a:avLst>
              <a:gd name="adj" fmla="val 13592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F4C6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323EB8-150D-43B7-A6F3-335FCB9E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811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8354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CEBFF"/>
                </a:solidFill>
                <a:latin typeface="Arial"/>
                <a:ea typeface="Arial"/>
                <a:cs typeface="Arial"/>
              </a:rPr>
              <a:t>Automation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C5B937-598C-446B-B0E7-ADFA23F5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8597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AE8"/>
                </a:solidFill>
                <a:latin typeface="Arial"/>
                <a:ea typeface="Arial"/>
                <a:cs typeface="Arial"/>
              </a:rPr>
              <a:t>Some actions depend on application interfaces, window focus and permissions.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38A53E-2C5F-417C-92C2-3C7F9A9F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5048250" cy="981075"/>
          </a:xfrm>
          <a:prstGeom xmlns:a="http://schemas.openxmlformats.org/drawingml/2006/main" prst="roundRect">
            <a:avLst>
              <a:gd name="adj" fmla="val 13592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FF819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2EF035-9FA5-48A0-881D-7075E95F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670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8354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CEBFF"/>
                </a:solidFill>
                <a:latin typeface="Arial"/>
                <a:ea typeface="Arial"/>
                <a:cs typeface="Arial"/>
              </a:rPr>
              <a:t>Cloud services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C56A37-C8C4-4DC1-B946-BA25AD48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718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AE8"/>
                </a:solidFill>
                <a:latin typeface="Arial"/>
                <a:ea typeface="Arial"/>
                <a:cs typeface="Arial"/>
              </a:rPr>
              <a:t>Internet access is required for cloud AI and online services.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872ADD-75FA-49CD-BC8D-A99C3ED0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24175"/>
            <a:ext cx="5048250" cy="981075"/>
          </a:xfrm>
          <a:prstGeom xmlns:a="http://schemas.openxmlformats.org/drawingml/2006/main" prst="roundRect">
            <a:avLst>
              <a:gd name="adj" fmla="val 13592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FF819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93338B-132B-456A-92B4-59C84278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670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8354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CEBFF"/>
                </a:solidFill>
                <a:latin typeface="Arial"/>
                <a:ea typeface="Arial"/>
                <a:cs typeface="Arial"/>
              </a:rPr>
              <a:t>AI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2FC3FB-1CAC-4005-BBE1-18A361D7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718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AE8"/>
                </a:solidFill>
                <a:latin typeface="Arial"/>
                <a:ea typeface="Arial"/>
                <a:cs typeface="Arial"/>
              </a:rPr>
              <a:t>AI responses can sometimes be incorrect or incomplete.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22C780-FD37-411B-8DA0-C6F36DBF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5048250" cy="981075"/>
          </a:xfrm>
          <a:prstGeom xmlns:a="http://schemas.openxmlformats.org/drawingml/2006/main" prst="roundRect">
            <a:avLst>
              <a:gd name="adj" fmla="val 13592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8B6C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E06A48-168B-4195-AC45-4F00ED3F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5292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8354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CEBFF"/>
                </a:solidFill>
                <a:latin typeface="Arial"/>
                <a:ea typeface="Arial"/>
                <a:cs typeface="Arial"/>
              </a:rPr>
              <a:t>Hardware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3201B5-6C0C-4534-A337-4A91D179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5772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65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AE8"/>
                </a:solidFill>
                <a:latin typeface="Arial"/>
                <a:ea typeface="Arial"/>
                <a:cs typeface="Arial"/>
              </a:rPr>
              <a:t>Performance depends on local hardware and selected AI model size.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356896-0BD0-40F8-B3D5-28203E0C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0050"/>
            <a:ext cx="5048250" cy="981075"/>
          </a:xfrm>
          <a:prstGeom xmlns:a="http://schemas.openxmlformats.org/drawingml/2006/main" prst="roundRect">
            <a:avLst>
              <a:gd name="adj" fmla="val 13592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8B6C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2BD745-4AB2-4069-8C9A-ACC52A5D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5292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8354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CEBFF"/>
                </a:solidFill>
                <a:latin typeface="Arial"/>
                <a:ea typeface="Arial"/>
                <a:cs typeface="Arial"/>
              </a:rPr>
              <a:t>Application changes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B3AE3B-3EA2-4172-8AC0-52290E3C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5772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AE8"/>
                </a:solidFill>
                <a:latin typeface="Arial"/>
                <a:ea typeface="Arial"/>
                <a:cs typeface="Arial"/>
              </a:rPr>
              <a:t>UI updates can affect keyboard- and screen-based automation.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9F6515-75E0-4C37-9ED8-10444DAB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34050"/>
            <a:ext cx="91440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F4C66A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F4C66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C66A"/>
                </a:solidFill>
                <a:latin typeface="Arial"/>
                <a:ea typeface="Arial"/>
                <a:cs typeface="Arial"/>
              </a:rPr>
              <a:t>Responsible use: maintain confirmations for sensitive actions and verify outcomes before treating a task as complete.</a:t>
            </a:r>
          </a:p>
        </p:txBody>
      </p:sp>
    </p:spTree>
    <p:extLst>
      <p:ext uri="{BB962C8B-B14F-4D97-AF65-F5344CB8AC3E}">
        <p14:creationId xmlns:p14="http://schemas.microsoft.com/office/powerpoint/2010/main" val="163568419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32125C-38B3-4A4B-AD2C-8472BF38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9FF"/>
          </a:solidFill>
          <a:ln xmlns:a="http://schemas.openxmlformats.org/drawingml/2006/main" w="0">
            <a:solidFill>
              <a:srgbClr val="2BD9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FAFE6-29BC-4FA6-86BF-02B5DE61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POSSIBLE ENHANCEMENTS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96F878-9ECE-4295-B6B6-AD2E665D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Future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66A25-B45E-4452-A7B5-A92B0A7B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763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66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0F9B4-4F5A-4C19-9C8C-F602DE96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6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BBE1A-7691-4BE1-82D6-9FA2650A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JARVIS OS – Intelligent Voice-Controlled Desktop Assistant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74803F-2E78-4651-BE36-A4C708D1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BAD01-CB45-49BA-9FA1-BFA1D72B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433387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2BD9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Multi-agent architecture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A1377D-3414-41C0-95E2-4E012B44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19250"/>
            <a:ext cx="433387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2BD9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Long-term context and memory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932FC8-4F4A-4B61-BD9F-86DD23B6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9350"/>
            <a:ext cx="433387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2D7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More operating-system support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B2C7D7-B8C9-435C-BC57-38427B73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19350"/>
            <a:ext cx="433387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2D7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Additional application integrations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187C5-F085-4CAC-8540-37AC2F93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433387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8B6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Improved offline capabilities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C52D14-C19E-4817-999F-E533CBCB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19450"/>
            <a:ext cx="433387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8B6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Computer vision and screen understanding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A4B91C-AE76-4FF9-AE43-30F3FB3E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19550"/>
            <a:ext cx="433387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6FE7B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Autonomous task planning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3F099-D9E1-493C-A35D-8EA8D457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19550"/>
            <a:ext cx="433387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6FE7B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Mobile and device integration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9C71D4-1D63-4606-8E72-C84EFBDE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433387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F4C66A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Personalized workflows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CA808A-0E2C-42E9-8E04-7792C29B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19650"/>
            <a:ext cx="433387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F4C66A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Security and permission management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282A8F-3013-4F2E-8BC5-DAB82D0D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674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8989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8CEBFF"/>
                </a:solidFill>
                <a:latin typeface="Arial"/>
                <a:ea typeface="Arial"/>
                <a:cs typeface="Arial"/>
              </a:rPr>
              <a:t>Future work can extend the assistant from command execution toward more context-aware and permission-aware automation.</a:t>
            </a:r>
          </a:p>
        </p:txBody>
      </p:sp>
    </p:spTree>
    <p:extLst>
      <p:ext uri="{BB962C8B-B14F-4D97-AF65-F5344CB8AC3E}">
        <p14:creationId xmlns:p14="http://schemas.microsoft.com/office/powerpoint/2010/main" val="72704014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5AF8CB-BADE-4182-8909-7BAB0966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9FF"/>
          </a:solidFill>
          <a:ln xmlns:a="http://schemas.openxmlformats.org/drawingml/2006/main" w="0">
            <a:solidFill>
              <a:srgbClr val="2BD9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F28591-2981-4A49-971A-E8481F08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PROJECT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4EFC4-270B-40A0-9DE6-91BBDC40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91E8E-29FB-4F9C-9AB9-852EC44E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763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66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E5CDD8-D4E9-4EEA-9BC4-50E5073E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6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490523-6831-4E6F-B779-2A8ABB79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JARVIS OS – Intelligent Voice-Controlled Desktop Assistant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4D687-2682-4D24-9F5B-1FD0E316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D1B66-19C1-47F0-8213-DDC52364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66875"/>
            <a:ext cx="9906000" cy="904875"/>
          </a:xfrm>
          <a:prstGeom xmlns:a="http://schemas.openxmlformats.org/drawingml/2006/main" prst="roundRect">
            <a:avLst>
              <a:gd name="adj" fmla="val 14737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2BD9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0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3FAFF"/>
                </a:solidFill>
                <a:latin typeface="Arial"/>
                <a:ea typeface="Arial"/>
                <a:cs typeface="Arial"/>
              </a:rPr>
              <a:t>JARVIS OS demonstrates how Artificial Intelligence, speech recognition and desktop automation can be combined to create a more natural computer interaction system.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1D467-BFD8-488C-B4F8-8DCDF35F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99060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2D7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0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8CEBFF"/>
                </a:solidFill>
                <a:latin typeface="Arial"/>
                <a:ea typeface="Arial"/>
                <a:cs typeface="Arial"/>
              </a:rPr>
              <a:t>The system is designed to interpret user commands and translate them into practical computer actions, rather than only answering questions.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CD6611-7EE1-40D4-9479-BAA1D4C1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43375"/>
            <a:ext cx="99060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8B6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0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3FAFF"/>
                </a:solidFill>
                <a:latin typeface="Arial"/>
                <a:ea typeface="Arial"/>
                <a:cs typeface="Arial"/>
              </a:rPr>
              <a:t>Local and cloud AI providers offer a flexible architecture when configured, while modular automation skills support future expansion.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1DE639-D637-4395-AA6E-BE6022A1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626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6FE7B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FE7B6"/>
                </a:solidFill>
                <a:latin typeface="Arial"/>
                <a:ea typeface="Arial"/>
                <a:cs typeface="Arial"/>
              </a:rPr>
              <a:t>JARVIS OS: intelligent assistance connected to practical desktop action.</a:t>
            </a:r>
          </a:p>
        </p:txBody>
      </p:sp>
    </p:spTree>
    <p:extLst>
      <p:ext uri="{BB962C8B-B14F-4D97-AF65-F5344CB8AC3E}">
        <p14:creationId xmlns:p14="http://schemas.microsoft.com/office/powerpoint/2010/main" val="148869661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E1C23A-C8FB-4CB1-93E7-77EEFE9B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9FF"/>
          </a:solidFill>
          <a:ln xmlns:a="http://schemas.openxmlformats.org/drawingml/2006/main" w="0">
            <a:solidFill>
              <a:srgbClr val="2BD9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F3EA5-D11B-4A00-B532-797B56F7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DEMONSTRATION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54E76-FC40-47BA-B83E-1CCF7146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JARVIS OS – Live Demonstration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7F67F-B98A-46AA-ACBC-D3C6AFCC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763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66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9D2D8-CA60-4A19-A7E4-ED7178F2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46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0CA36-5EE4-4AAC-8949-DAB9D5D5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JARVIS OS – Intelligent Voice-Controlled Desktop Assistant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BC4EF-15DD-4167-8025-146A40AF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768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3EF07-254C-4725-BD7C-946FE093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24000"/>
            <a:ext cx="1571625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2BD9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Speak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C3090-E926-4879-BA13-37173543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524000"/>
            <a:ext cx="1571625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2D7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Understand</a:t>
            </a:r>
          </a:p>
        </p:txBody>
      </p: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638425" y="1785938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D9FF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C4BEE9-9D01-4469-A560-93BF41CF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524000"/>
            <a:ext cx="1571625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8B6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657725" y="1785938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D9FF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E2B2A7-86F8-4610-A74E-0EAB5984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24000"/>
            <a:ext cx="1571625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0A1B2E"/>
          </a:solidFill>
          <a:ln xmlns:a="http://schemas.openxmlformats.org/drawingml/2006/main" w="9525">
            <a:solidFill>
              <a:srgbClr val="6FE7B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Execute</a:t>
            </a:r>
          </a:p>
        </p:txBody>
      </p:sp>
      <p:cxnSp>
        <p:nvCxnSpPr>
          <p:cNvPr id="36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677025" y="1785938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D9FF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940160-ADB0-479D-BDC2-72D4CB42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24000"/>
            <a:ext cx="1571625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2BD9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Respond</a:t>
            </a:r>
          </a:p>
        </p:txBody>
      </p:sp>
      <p:cxnSp>
        <p:nvCxnSpPr>
          <p:cNvPr id="38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696325" y="1785938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D9FF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6349B1-684A-469C-9713-85E12AE8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8354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Screenshot placeholders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D24F74-733B-42DD-864F-E187FB00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33337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2BD9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CEBFF"/>
                </a:solidFill>
                <a:latin typeface="Arial"/>
                <a:ea typeface="Arial"/>
                <a:cs typeface="Arial"/>
              </a:rPr>
              <a:t>INSERT SCREENSHOT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CEBFF"/>
                </a:solidFill>
                <a:latin typeface="Arial"/>
                <a:ea typeface="Arial"/>
                <a:cs typeface="Arial"/>
              </a:rPr>
              <a:t>Web HUD / dashboard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EF42A1-2063-4A1D-858C-233F2321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00375"/>
            <a:ext cx="33337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8B6C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CEBFF"/>
                </a:solidFill>
                <a:latin typeface="Arial"/>
                <a:ea typeface="Arial"/>
                <a:cs typeface="Arial"/>
              </a:rPr>
              <a:t>INSERT SCREENSHOT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CEBFF"/>
                </a:solidFill>
                <a:latin typeface="Arial"/>
                <a:ea typeface="Arial"/>
                <a:cs typeface="Arial"/>
              </a:rPr>
              <a:t>Command response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CFD5EA-9706-4B0C-A06F-C51DB5D3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0375"/>
            <a:ext cx="33337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6FE7B6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CEBFF"/>
                </a:solidFill>
                <a:latin typeface="Arial"/>
                <a:ea typeface="Arial"/>
                <a:cs typeface="Arial"/>
              </a:rPr>
              <a:t>INSERT SCREENSHOT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CEBFF"/>
                </a:solidFill>
                <a:latin typeface="Arial"/>
                <a:ea typeface="Arial"/>
                <a:cs typeface="Arial"/>
              </a:rPr>
              <a:t>Automation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E485E9-81F1-445B-A4D3-BE5B4DE3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76875"/>
            <a:ext cx="1038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AE8"/>
                </a:solidFill>
                <a:latin typeface="Arial"/>
                <a:ea typeface="Arial"/>
                <a:cs typeface="Arial"/>
              </a:rPr>
              <a:t>Suggested live commands: status   |   open chrome and search for weather   |   set a 1 minute timer   |   voice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22D470-A71A-44CB-AE9F-0022644B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934075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8465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F4C6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C66A"/>
                </a:solidFill>
                <a:latin typeface="Arial"/>
                <a:ea typeface="Arial"/>
                <a:cs typeface="Arial"/>
              </a:rPr>
              <a:t>Replace placeholders with actual screenshots before final presentation.</a:t>
            </a:r>
          </a:p>
        </p:txBody>
      </p:sp>
    </p:spTree>
    <p:extLst>
      <p:ext uri="{BB962C8B-B14F-4D97-AF65-F5344CB8AC3E}">
        <p14:creationId xmlns:p14="http://schemas.microsoft.com/office/powerpoint/2010/main" val="35700372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548D3E-763A-4017-9029-C4A1DBAB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9FF"/>
          </a:solidFill>
          <a:ln xmlns:a="http://schemas.openxmlformats.org/drawingml/2006/main" w="0">
            <a:solidFill>
              <a:srgbClr val="2BD9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44233-49B4-4D5F-8B6A-70916298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485900"/>
            <a:ext cx="704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834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350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JARVIS 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9BE65-2739-4251-AA21-BCC8492E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76475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0">
                <a:solidFill>
                  <a:srgbClr val="8CEB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8CEBFF"/>
                </a:solidFill>
                <a:latin typeface="Arial"/>
                <a:ea typeface="Arial"/>
                <a:cs typeface="Arial"/>
              </a:rPr>
              <a:t>Intelligent Voice-Controlled Desktop Assistant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F63C51-61DF-4384-BBD5-E59E044E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352800"/>
            <a:ext cx="21907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0C2239"/>
          </a:solidFill>
          <a:ln xmlns:a="http://schemas.openxmlformats.org/drawingml/2006/main" w="9525">
            <a:solidFill>
              <a:srgbClr val="2BD9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2BD9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BD9FF"/>
                </a:solidFill>
                <a:latin typeface="Arial"/>
                <a:ea typeface="Arial"/>
                <a:cs typeface="Arial"/>
              </a:rPr>
              <a:t>Q&amp;A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AE580-EA9F-4CAD-A032-0B62913E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86300"/>
            <a:ext cx="704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228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225" b="1">
                <a:solidFill>
                  <a:srgbClr val="F3FA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3FA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62832-E7F6-4B94-84B3-CD380363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768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C9DA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9DAE8"/>
                </a:solidFill>
                <a:latin typeface="Arial"/>
                <a:ea typeface="Arial"/>
                <a:cs typeface="Arial"/>
              </a:rPr>
              <a:t>Questions &amp; Answers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719E9-BF5D-4C2E-BC6E-562F41E2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419850"/>
            <a:ext cx="800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0">
                <a:solidFill>
                  <a:srgbClr val="88A2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8A2B8"/>
                </a:solidFill>
                <a:latin typeface="Arial"/>
                <a:ea typeface="Arial"/>
                <a:cs typeface="Arial"/>
              </a:rPr>
              <a:t>JARVIS OS – Intelligent Voice-Controlled Desktop Assistant</a:t>
            </a:r>
          </a:p>
        </p:txBody>
      </p:sp>
    </p:spTree>
    <p:extLst>
      <p:ext uri="{BB962C8B-B14F-4D97-AF65-F5344CB8AC3E}">
        <p14:creationId xmlns:p14="http://schemas.microsoft.com/office/powerpoint/2010/main" val="445450926"/>
      </p:ext>
    </p:extLst>
  </p:cSld>
</p:sld>
</file>

<file path=ppt/theme/theme1.xml><?xml version="1.0" encoding="utf-8"?>
<a:theme xmlns:a="http://schemas.openxmlformats.org/drawingml/2006/main" name="ChatGPT">
  <a:themeElements>
    <a:clrScheme name="Jarvis Tech">
      <a:dk1>
        <a:srgbClr val="000000"/>
      </a:dk1>
      <a:lt1>
        <a:srgbClr val="FFFFFF"/>
      </a:lt1>
      <a:dk2>
        <a:srgbClr val="04101C"/>
      </a:dk2>
      <a:lt2>
        <a:srgbClr val="DCECF5"/>
      </a:lt2>
      <a:accent1>
        <a:srgbClr val="2BD9FF"/>
      </a:accent1>
      <a:accent2>
        <a:srgbClr val="2D7CFF"/>
      </a:accent2>
      <a:accent3>
        <a:srgbClr val="8B6CFF"/>
      </a:accent3>
      <a:accent4>
        <a:srgbClr val="6FE7B6"/>
      </a:accent4>
      <a:accent5>
        <a:srgbClr val="F4C66A"/>
      </a:accent5>
      <a:accent6>
        <a:srgbClr val="FF8191"/>
      </a:accent6>
      <a:hlink>
        <a:srgbClr val="2BD9FF"/>
      </a:hlink>
      <a:folHlink>
        <a:srgbClr val="8B6CF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Jarvis Te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2026-09-10T14:33:33.3050000Z</dcterms:created>
  <dcterms:modified xsi:type="dcterms:W3CDTF">2026-09-10T14:33:33.3050000Z</dcterms:modified>
</coreProperties>
</file>