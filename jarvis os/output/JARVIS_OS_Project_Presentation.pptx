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Replace student, guide, department, college and academic year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commands can arrive as typed text or voice. High-confidence task skills handle direct commands; optional LLM providers support configured AI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Literature-review comparison for presentation context. Avoid claiming that any named product has no desktop automation; feature availability changes by platform and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problem statement as written, then briefly connect it to the six user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gap as a project-development need, rather than as an absolute claim about all other assistants.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objective slide to distinguish core project goals from optional services that depend on configuration, installed applications or internet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diagram. Ollama and NVIDIA NIM are selectable providers. The provider router supports configured automatic failover, subject to valid model/API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Examples show intended routing. Present the WhatsApp flow only after explaining that it requires an available application, a focused window and a confirmation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code supports a provider router with optional automatic failover. Do not say that every request uses NVIDIA NIM. It is an optional configured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expected outcomes as a combination of implemented core capabilities and configurable services. Avoid claiming online/cloud services work without their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roadmap as a proposed plan. Mark completed phases according to the team’s actual current status before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Component list uses the software libraries and modules provided in the supplied project requirements and source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Requirements distinguish core execution from optional local AI, cloud AI, voice and online features. No fixed laptop specification is defined by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Fill actual microphone, internet and miscellaneous expenditure values. The total must be calculated from those completed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Advantages reflect the intended user value of combining voice input with structured desktop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should be presented openly. Explain that controls and confirmations help reduce risk but cannot guarantee every external application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Future-scope items are proposals, not claims about the current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Conclude with the project’s central idea: voice or text request, command understanding, action selection and a clear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slide. Insert team screenshots after running the application. Use safe commands for a live demo and avoid showing keys, passwords or personal chats.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62BDE84-DAE6-452F-9D0A-C5495ED08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E4093-E2C5-4E46-9A7E-EC41D3D901B8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BE COMPUTER ENGINEERING  |  PROJECT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606EE-8BBA-4743-BD3F-D24E005D5616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4545" lnSpcReduction="10000"/>
          </a:bodyPr>
          <a:lstStyle/>
          <a:p>
            <a:pPr algn="l">
              <a:lnSpc>
                <a:spcPct val="105000"/>
              </a:lnSpc>
              <a:buNone/>
              <a:defRPr sz="46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3456C-8946-4BC0-B4A5-59DC2C9A9D78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5810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Intelligent Voice-Controlled</a:t>
            </a:r>
          </a:p>
          <a:p>
            <a:pPr algn="l">
              <a:lnSpc>
                <a:spcPct val="95000"/>
              </a:lnSpc>
              <a:buNone/>
              <a:defRPr sz="24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Desktop Assistant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E918D-1FC9-4D34-B377-BBFD92BF51C1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403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An AI-powered desktop automation system that turns natural-language commands into computer actions.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7E93C5-97B1-4487-B05D-48CDB1959D92}"/>
              </a:ext>
            </a:extLst>
          </p:cNvPr>
          <p:cNvSpPr>
            <a:spLocks noGrp="1"/>
          </p:cNvSpPr>
          <p:nvPr/>
        </p:nvSpPr>
        <p:spPr>
          <a:xfrm>
            <a:off x="8382000" y="1257300"/>
            <a:ext cx="1952625" cy="514350"/>
          </a:xfrm>
          <a:prstGeom prst="roundRect">
            <a:avLst>
              <a:gd name="adj" fmla="val 25926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95D5A6-085D-48F9-8BDF-34496474A6D2}"/>
              </a:ext>
            </a:extLst>
          </p:cNvPr>
          <p:cNvSpPr>
            <a:spLocks noGrp="1"/>
          </p:cNvSpPr>
          <p:nvPr/>
        </p:nvSpPr>
        <p:spPr>
          <a:xfrm>
            <a:off x="8382000" y="2447925"/>
            <a:ext cx="1952625" cy="514350"/>
          </a:xfrm>
          <a:prstGeom prst="roundRect">
            <a:avLst>
              <a:gd name="adj" fmla="val 25926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C7CA17-37AF-4552-A2A7-E4FACED3C871}"/>
              </a:ext>
            </a:extLst>
          </p:cNvPr>
          <p:cNvSpPr>
            <a:spLocks noGrp="1"/>
          </p:cNvSpPr>
          <p:nvPr/>
        </p:nvSpPr>
        <p:spPr>
          <a:xfrm>
            <a:off x="8382000" y="3638550"/>
            <a:ext cx="1952625" cy="514350"/>
          </a:xfrm>
          <a:prstGeom prst="roundRect">
            <a:avLst>
              <a:gd name="adj" fmla="val 25926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DA16E2-7C1C-4CE3-8A96-00B3656C9457}"/>
              </a:ext>
            </a:extLst>
          </p:cNvPr>
          <p:cNvSpPr>
            <a:spLocks noGrp="1"/>
          </p:cNvSpPr>
          <p:nvPr/>
        </p:nvSpPr>
        <p:spPr>
          <a:xfrm>
            <a:off x="8382000" y="4829175"/>
            <a:ext cx="1952625" cy="514350"/>
          </a:xfrm>
          <a:prstGeom prst="roundRect">
            <a:avLst>
              <a:gd name="adj" fmla="val 25926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cxnSp>
        <p:nvCxnSpPr>
          <p:cNvPr id="31" name="Straight Arrow Connector 30"/>
          <p:cNvCxnSpPr>
            <a:stCxn id="10" idx="2"/>
            <a:endCxn id="11" idx="0"/>
          </p:cNvCxnSpPr>
          <p:nvPr/>
        </p:nvCxnSpPr>
        <p:spPr>
          <a:xfrm>
            <a:off x="9358313" y="1771650"/>
            <a:ext cx="0" cy="67627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32" name="Straight Arrow Connector 31"/>
          <p:cNvCxnSpPr>
            <a:stCxn id="11" idx="2"/>
            <a:endCxn id="12" idx="0"/>
          </p:cNvCxnSpPr>
          <p:nvPr/>
        </p:nvCxnSpPr>
        <p:spPr>
          <a:xfrm>
            <a:off x="9358313" y="2962275"/>
            <a:ext cx="0" cy="676275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33" name="Straight Arrow Connector 32"/>
          <p:cNvCxnSpPr>
            <a:stCxn id="12" idx="2"/>
            <a:endCxn id="13" idx="0"/>
          </p:cNvCxnSpPr>
          <p:nvPr/>
        </p:nvCxnSpPr>
        <p:spPr>
          <a:xfrm>
            <a:off x="9358313" y="4152900"/>
            <a:ext cx="0" cy="676275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D1BC87F-EB06-48C7-913F-6612FDC5F7F5}"/>
              </a:ext>
            </a:extLst>
          </p:cNvPr>
          <p:cNvSpPr>
            <a:spLocks noGrp="1"/>
          </p:cNvSpPr>
          <p:nvPr/>
        </p:nvSpPr>
        <p:spPr>
          <a:xfrm>
            <a:off x="7762875" y="56197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Speech · Reasoning · Automation</a:t>
            </a:r>
          </a:p>
        </p:txBody>
      </p:sp>
    </p:spTree>
    <p:extLst>
      <p:ext uri="{BB962C8B-B14F-4D97-AF65-F5344CB8AC3E}">
        <p14:creationId xmlns:p14="http://schemas.microsoft.com/office/powerpoint/2010/main" val="122809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F173AB7-D6CF-4ED9-A2B4-6D199EDFD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8C681-17C2-412C-8457-153A31B8250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7DC7E-84AC-4C8F-99E5-7495721454BD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1. Introduction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D38904-9713-4A55-AA4C-1B4EAF023CC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85E1520-2A35-4C9B-91B6-2C14764A5702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73633E-4EEF-41B7-97A8-786B4A35CDCE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7DEFC-1576-4B29-AC15-27FE45FEFDA5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C3FCB-30C7-4C50-9015-C95A5BA2521D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552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8452" lnSpcReduction="2000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JARVIS OS converts natural-language voice commands into practical computer actions.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E1E0-1677-4E6B-9F24-F0E36230131A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5334000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Traditional computer use depends on keyboard, mouse and graphical menus.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Manual desktop operations can repeat the same steps across several applications.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Voice interaction offers a natural way to request a task.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JARVIS OS combines speech recognition, command analysis and desktop automation.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Structured skills can act directly; AI/LLM processing supports configured intelligent interaction.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519CB6-A957-48FC-9E38-400F39A88C95}"/>
              </a:ext>
            </a:extLst>
          </p:cNvPr>
          <p:cNvSpPr>
            <a:spLocks noGrp="1"/>
          </p:cNvSpPr>
          <p:nvPr/>
        </p:nvSpPr>
        <p:spPr>
          <a:xfrm>
            <a:off x="7210425" y="13716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238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Command workflow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C6F1B9-89D2-4F0E-95A2-04A63A96A655}"/>
              </a:ext>
            </a:extLst>
          </p:cNvPr>
          <p:cNvSpPr>
            <a:spLocks noGrp="1"/>
          </p:cNvSpPr>
          <p:nvPr/>
        </p:nvSpPr>
        <p:spPr>
          <a:xfrm>
            <a:off x="7191375" y="175260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45E1F2-2676-48DC-9F08-ACAEE0C9E61C}"/>
              </a:ext>
            </a:extLst>
          </p:cNvPr>
          <p:cNvSpPr>
            <a:spLocks noGrp="1"/>
          </p:cNvSpPr>
          <p:nvPr/>
        </p:nvSpPr>
        <p:spPr>
          <a:xfrm>
            <a:off x="7191375" y="222885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</a:t>
            </a:r>
          </a:p>
        </p:txBody>
      </p:sp>
      <p:cxnSp>
        <p:nvCxnSpPr>
          <p:cNvPr id="38" name="Straight Arrow Connector 37"/>
          <p:cNvCxnSpPr>
            <a:stCxn id="11" idx="2"/>
            <a:endCxn id="12" idx="0"/>
          </p:cNvCxnSpPr>
          <p:nvPr/>
        </p:nvCxnSpPr>
        <p:spPr>
          <a:xfrm>
            <a:off x="8953500" y="2152650"/>
            <a:ext cx="0" cy="762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814839-82C4-4DF5-816A-2978A254092C}"/>
              </a:ext>
            </a:extLst>
          </p:cNvPr>
          <p:cNvSpPr>
            <a:spLocks noGrp="1"/>
          </p:cNvSpPr>
          <p:nvPr/>
        </p:nvSpPr>
        <p:spPr>
          <a:xfrm>
            <a:off x="7191375" y="270510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 Recognition</a:t>
            </a:r>
          </a:p>
        </p:txBody>
      </p:sp>
      <p:cxnSp>
        <p:nvCxnSpPr>
          <p:cNvPr id="40" name="Straight Arrow Connector 39"/>
          <p:cNvCxnSpPr>
            <a:stCxn id="12" idx="2"/>
            <a:endCxn id="14" idx="0"/>
          </p:cNvCxnSpPr>
          <p:nvPr/>
        </p:nvCxnSpPr>
        <p:spPr>
          <a:xfrm>
            <a:off x="8953500" y="2628900"/>
            <a:ext cx="0" cy="76200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6C2E8-4042-4619-A2DB-A3EF50EA02D4}"/>
              </a:ext>
            </a:extLst>
          </p:cNvPr>
          <p:cNvSpPr>
            <a:spLocks noGrp="1"/>
          </p:cNvSpPr>
          <p:nvPr/>
        </p:nvSpPr>
        <p:spPr>
          <a:xfrm>
            <a:off x="7191375" y="318135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</p:txBody>
      </p:sp>
      <p:cxnSp>
        <p:nvCxnSpPr>
          <p:cNvPr id="42" name="Straight Arrow Connector 41"/>
          <p:cNvCxnSpPr>
            <a:stCxn id="14" idx="2"/>
            <a:endCxn id="16" idx="0"/>
          </p:cNvCxnSpPr>
          <p:nvPr/>
        </p:nvCxnSpPr>
        <p:spPr>
          <a:xfrm>
            <a:off x="8953500" y="3105150"/>
            <a:ext cx="0" cy="76200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EFBB13-A523-4A96-9C10-D21B48947F6C}"/>
              </a:ext>
            </a:extLst>
          </p:cNvPr>
          <p:cNvSpPr>
            <a:spLocks noGrp="1"/>
          </p:cNvSpPr>
          <p:nvPr/>
        </p:nvSpPr>
        <p:spPr>
          <a:xfrm>
            <a:off x="7191375" y="365760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Intent &amp; Task Analysis</a:t>
            </a:r>
          </a:p>
        </p:txBody>
      </p:sp>
      <p:cxnSp>
        <p:nvCxnSpPr>
          <p:cNvPr id="44" name="Straight Arrow Connector 43"/>
          <p:cNvCxnSpPr>
            <a:stCxn id="16" idx="2"/>
            <a:endCxn id="18" idx="0"/>
          </p:cNvCxnSpPr>
          <p:nvPr/>
        </p:nvCxnSpPr>
        <p:spPr>
          <a:xfrm>
            <a:off x="8953500" y="3581400"/>
            <a:ext cx="0" cy="76200"/>
          </a:xfrm>
          <a:prstGeom prst="straightConnector1">
            <a:avLst/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11FBED-29A2-4BDD-BBD6-1CBFA4675643}"/>
              </a:ext>
            </a:extLst>
          </p:cNvPr>
          <p:cNvSpPr>
            <a:spLocks noGrp="1"/>
          </p:cNvSpPr>
          <p:nvPr/>
        </p:nvSpPr>
        <p:spPr>
          <a:xfrm>
            <a:off x="7191375" y="413385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Automation</a:t>
            </a:r>
          </a:p>
        </p:txBody>
      </p:sp>
      <p:cxnSp>
        <p:nvCxnSpPr>
          <p:cNvPr id="46" name="Straight Arrow Connector 45"/>
          <p:cNvCxnSpPr>
            <a:stCxn id="18" idx="2"/>
            <a:endCxn id="20" idx="0"/>
          </p:cNvCxnSpPr>
          <p:nvPr/>
        </p:nvCxnSpPr>
        <p:spPr>
          <a:xfrm>
            <a:off x="8953500" y="4057650"/>
            <a:ext cx="0" cy="762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FD9476-F572-4CC6-96ED-1BC147A02F92}"/>
              </a:ext>
            </a:extLst>
          </p:cNvPr>
          <p:cNvSpPr>
            <a:spLocks noGrp="1"/>
          </p:cNvSpPr>
          <p:nvPr/>
        </p:nvSpPr>
        <p:spPr>
          <a:xfrm>
            <a:off x="7191375" y="461010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/ OS</a:t>
            </a:r>
          </a:p>
        </p:txBody>
      </p:sp>
      <p:cxnSp>
        <p:nvCxnSpPr>
          <p:cNvPr id="48" name="Straight Arrow Connector 47"/>
          <p:cNvCxnSpPr>
            <a:stCxn id="20" idx="2"/>
            <a:endCxn id="22" idx="0"/>
          </p:cNvCxnSpPr>
          <p:nvPr/>
        </p:nvCxnSpPr>
        <p:spPr>
          <a:xfrm>
            <a:off x="8953500" y="4533900"/>
            <a:ext cx="0" cy="762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CD95E3-3FA9-4BC5-8D44-F8BB036F9D92}"/>
              </a:ext>
            </a:extLst>
          </p:cNvPr>
          <p:cNvSpPr>
            <a:spLocks noGrp="1"/>
          </p:cNvSpPr>
          <p:nvPr/>
        </p:nvSpPr>
        <p:spPr>
          <a:xfrm>
            <a:off x="7191375" y="5086350"/>
            <a:ext cx="3524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50" name="Straight Arrow Connector 49"/>
          <p:cNvCxnSpPr>
            <a:stCxn id="22" idx="2"/>
            <a:endCxn id="24" idx="0"/>
          </p:cNvCxnSpPr>
          <p:nvPr/>
        </p:nvCxnSpPr>
        <p:spPr>
          <a:xfrm>
            <a:off x="8953500" y="5010150"/>
            <a:ext cx="0" cy="762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7830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DF3153-9EF5-40DD-818D-1D375A4FB9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70EF05-9FD5-4AD1-B408-4A28D0DD946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EXISTING ASSISTANTS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CD9DF-4F77-4914-933A-E38F535AF01A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2. Literature Review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2411C46-F685-4155-9F6D-F53F9A0F48B3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E34C98C-541C-48CA-94AA-7D69ACF4A266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1AFE3-C4A1-4A09-9015-4ED896FD7FB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C6742-8557-45FF-A1A8-AEB4232D1074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864FA-5505-414E-92F0-08A4F1B71FFB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7889"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Existing assistants demonstrate voice interaction and AI assistance. JARVIS OS focuses on the desktop automation context.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552450" y="1924050"/>
          <a:ext cx="11087100" cy="2971800"/>
        </p:xfrm>
        <a:graphic>
          <a:graphicData uri="http://schemas.openxmlformats.org/drawingml/2006/table">
            <a:tbl>
              <a:tblPr firstRow="1" bandRow="1"/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Main Capability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Limitation in this project context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Siri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assistance within the Apple ecosystem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Desktop automation is outside this project’s Windows focus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Google Assistant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queries, information and connected services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Local desktop workflow control differs from this project’s goal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Alexa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commands and skills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Focus commonly extends to services and smart devices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Microsoft Copilot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AI assistance across Microsoft products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Automation depends on available product permissions and integrations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Traditional Python assistants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Custom voice commands and scripted tasks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Often rely on rule-based, project-specific command handling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2B6876-EFEA-403D-B513-36E775B717E8}"/>
              </a:ext>
            </a:extLst>
          </p:cNvPr>
          <p:cNvSpPr>
            <a:spLocks noGrp="1"/>
          </p:cNvSpPr>
          <p:nvPr/>
        </p:nvSpPr>
        <p:spPr>
          <a:xfrm>
            <a:off x="1381125" y="5286375"/>
            <a:ext cx="9429750" cy="533400"/>
          </a:xfrm>
          <a:prstGeom prst="roundRect">
            <a:avLst>
              <a:gd name="adj" fmla="val 25000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5479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Opportunity: Voice interaction + AI reasoning + computer automation in one desktop-focused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F52BEF-F528-4888-8A7B-4D5067352562}"/>
              </a:ext>
            </a:extLst>
          </p:cNvPr>
          <p:cNvSpPr>
            <a:spLocks noGrp="1"/>
          </p:cNvSpPr>
          <p:nvPr/>
        </p:nvSpPr>
        <p:spPr>
          <a:xfrm>
            <a:off x="1638300" y="5943600"/>
            <a:ext cx="8953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372"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Comparison reflects the project scope. Capabilities vary by product, platform and version.</a:t>
            </a:r>
          </a:p>
        </p:txBody>
      </p:sp>
    </p:spTree>
    <p:extLst>
      <p:ext uri="{BB962C8B-B14F-4D97-AF65-F5344CB8AC3E}">
        <p14:creationId xmlns:p14="http://schemas.microsoft.com/office/powerpoint/2010/main" val="41680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3D8A967-21F4-461D-9ABB-9C217CE7D5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4521F-2653-48CD-B8FA-A5F09FE3B4C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NEED FOR THE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ABF78-9639-4962-B3D5-675B30CCBE85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3. Problem Statement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3297DBC-3B98-4C48-82CC-5B2399FB461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430AB4D-346D-4EA1-A571-9D3BD2D221CE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E8AE81-A2F9-4ED5-9905-CCEBCE032A00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66C7D-D64C-41CC-84C9-723F8FC239A5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12C0B-910A-43EE-8846-993C60066E98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683" lnSpcReduction="1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268E5B-1ECD-4FBA-BEB2-654ACC63EEBB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6381750" cy="1962150"/>
          </a:xfrm>
          <a:prstGeom prst="roundRect">
            <a:avLst>
              <a:gd name="adj" fmla="val 6796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247650" tIns="209550" rIns="247650" bIns="190500" anchor="ctr">
            <a:normAutofit fontScale="97662" lnSpcReduction="10000"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“To design and develop an intelligent voice-controlled desktop assistant, JARVIS OS, capable of understanding natural-language voice commands and performing computer operations, application control, web tasks, communication tasks, and AI-based question answering through an integrated desktop automation system.”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E11D7-7EF1-4F0A-8D54-815CA9C24275}"/>
              </a:ext>
            </a:extLst>
          </p:cNvPr>
          <p:cNvSpPr>
            <a:spLocks noGrp="1"/>
          </p:cNvSpPr>
          <p:nvPr/>
        </p:nvSpPr>
        <p:spPr>
          <a:xfrm>
            <a:off x="7734300" y="14382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683" lnSpcReduction="100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Major user challenges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A89674-487B-4828-85C1-958F907FD5A6}"/>
              </a:ext>
            </a:extLst>
          </p:cNvPr>
          <p:cNvSpPr>
            <a:spLocks noGrp="1"/>
          </p:cNvSpPr>
          <p:nvPr/>
        </p:nvSpPr>
        <p:spPr>
          <a:xfrm>
            <a:off x="7572375" y="1847850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Manual navigation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500701-A56D-4029-B30E-6DBB3A2636F1}"/>
              </a:ext>
            </a:extLst>
          </p:cNvPr>
          <p:cNvSpPr>
            <a:spLocks noGrp="1"/>
          </p:cNvSpPr>
          <p:nvPr/>
        </p:nvSpPr>
        <p:spPr>
          <a:xfrm>
            <a:off x="9525000" y="1847850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Repetitive operations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913E5E-143A-4EA4-8185-80DF91A36B41}"/>
              </a:ext>
            </a:extLst>
          </p:cNvPr>
          <p:cNvSpPr>
            <a:spLocks noGrp="1"/>
          </p:cNvSpPr>
          <p:nvPr/>
        </p:nvSpPr>
        <p:spPr>
          <a:xfrm>
            <a:off x="7572375" y="2809875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switching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5C798C-23BA-45EA-9F72-76AB10ACC25F}"/>
              </a:ext>
            </a:extLst>
          </p:cNvPr>
          <p:cNvSpPr>
            <a:spLocks noGrp="1"/>
          </p:cNvSpPr>
          <p:nvPr/>
        </p:nvSpPr>
        <p:spPr>
          <a:xfrm>
            <a:off x="9525000" y="2809875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Limited desktop control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DE729F0-4170-4BA6-A9F5-63151D423F0D}"/>
              </a:ext>
            </a:extLst>
          </p:cNvPr>
          <p:cNvSpPr>
            <a:spLocks noGrp="1"/>
          </p:cNvSpPr>
          <p:nvPr/>
        </p:nvSpPr>
        <p:spPr>
          <a:xfrm>
            <a:off x="7572375" y="3771900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Rule-based language limits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4EF298-46FE-4636-8804-DA7B190D22D9}"/>
              </a:ext>
            </a:extLst>
          </p:cNvPr>
          <p:cNvSpPr>
            <a:spLocks noGrp="1"/>
          </p:cNvSpPr>
          <p:nvPr/>
        </p:nvSpPr>
        <p:spPr>
          <a:xfrm>
            <a:off x="9525000" y="3771900"/>
            <a:ext cx="1762125" cy="647700"/>
          </a:xfrm>
          <a:prstGeom prst="roundRect">
            <a:avLst>
              <a:gd name="adj" fmla="val 20588"/>
            </a:avLst>
          </a:prstGeom>
          <a:solidFill>
            <a:srgbClr val="0A1B2E"/>
          </a:solidFill>
          <a:ln w="9525">
            <a:solidFill>
              <a:srgbClr val="FF8191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Cloud-service dependency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F5A005-2C63-4F44-98BC-625946B28A73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239375" cy="723900"/>
          </a:xfrm>
          <a:prstGeom prst="roundRect">
            <a:avLst>
              <a:gd name="adj" fmla="val 18421"/>
            </a:avLst>
          </a:prstGeom>
          <a:solidFill>
            <a:srgbClr val="0A1B2E"/>
          </a:solidFill>
          <a:ln w="9525">
            <a:solidFill>
              <a:srgbClr val="1C4664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8CEBFF"/>
                </a:solidFill>
                <a:latin typeface="Arial"/>
                <a:ea typeface="Arial"/>
                <a:cs typeface="Arial"/>
              </a:rPr>
              <a:t>Design goal: reduce manual effort while keeping computer actions understandable and controlled.</a:t>
            </a:r>
          </a:p>
        </p:txBody>
      </p:sp>
    </p:spTree>
    <p:extLst>
      <p:ext uri="{BB962C8B-B14F-4D97-AF65-F5344CB8AC3E}">
        <p14:creationId xmlns:p14="http://schemas.microsoft.com/office/powerpoint/2010/main" val="133299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0D25FFF-1360-459A-A5C7-8A552231C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5ADD51-7EB9-432D-BCB4-C229EA3D139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FROM ASSISTANCE TO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60658-74D5-4E57-B3CD-011C738A1B9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4. Research Gap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ED19A11-02BF-44F9-9517-9A0E4BFE07B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4DC1502-982D-4BA5-A7B8-46C4B458A423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7C0B7-D1AF-4FD3-AE91-321F95521710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291C5-6F78-4018-AEED-FD4E3EB2468B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33C38-9CB8-4F31-BC37-56CEC59E6776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Existing assistants commonly support voice recognition, question answering, web search and basic commands.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8B3C51-458E-49A8-B2CC-B8A9EB4B0731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3333750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88A2B8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Existing Voice Assistant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299E58-43FF-4CE6-89D9-47A48BCE701B}"/>
              </a:ext>
            </a:extLst>
          </p:cNvPr>
          <p:cNvSpPr>
            <a:spLocks noGrp="1"/>
          </p:cNvSpPr>
          <p:nvPr/>
        </p:nvSpPr>
        <p:spPr>
          <a:xfrm>
            <a:off x="1524000" y="2819400"/>
            <a:ext cx="3333750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88A2B8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cxnSp>
        <p:nvCxnSpPr>
          <p:cNvPr id="41" name="Straight Arrow Connector 40"/>
          <p:cNvCxnSpPr>
            <a:stCxn id="9" idx="2"/>
            <a:endCxn id="10" idx="0"/>
          </p:cNvCxnSpPr>
          <p:nvPr/>
        </p:nvCxnSpPr>
        <p:spPr>
          <a:xfrm>
            <a:off x="3190875" y="2676525"/>
            <a:ext cx="0" cy="142875"/>
          </a:xfrm>
          <a:prstGeom prst="straightConnector1">
            <a:avLst/>
          </a:prstGeom>
          <a:ln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3060B6-1D3F-41A7-83AA-F22A0A2F12D8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3333750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88A2B8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Question Answering</a:t>
            </a:r>
          </a:p>
        </p:txBody>
      </p:sp>
      <p:cxnSp>
        <p:nvCxnSpPr>
          <p:cNvPr id="43" name="Straight Arrow Connector 42"/>
          <p:cNvCxnSpPr>
            <a:stCxn id="10" idx="2"/>
            <a:endCxn id="12" idx="0"/>
          </p:cNvCxnSpPr>
          <p:nvPr/>
        </p:nvCxnSpPr>
        <p:spPr>
          <a:xfrm>
            <a:off x="3190875" y="3343275"/>
            <a:ext cx="0" cy="142875"/>
          </a:xfrm>
          <a:prstGeom prst="straightConnector1">
            <a:avLst/>
          </a:prstGeom>
          <a:ln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5AA817-3919-453E-A2A4-FABC91EF278C}"/>
              </a:ext>
            </a:extLst>
          </p:cNvPr>
          <p:cNvSpPr>
            <a:spLocks noGrp="1"/>
          </p:cNvSpPr>
          <p:nvPr/>
        </p:nvSpPr>
        <p:spPr>
          <a:xfrm>
            <a:off x="1524000" y="4152900"/>
            <a:ext cx="3333750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88A2B8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Basic Commands</a:t>
            </a:r>
          </a:p>
        </p:txBody>
      </p:sp>
      <p:cxnSp>
        <p:nvCxnSpPr>
          <p:cNvPr id="45" name="Straight Arrow Connector 44"/>
          <p:cNvCxnSpPr>
            <a:stCxn id="12" idx="2"/>
            <a:endCxn id="14" idx="0"/>
          </p:cNvCxnSpPr>
          <p:nvPr/>
        </p:nvCxnSpPr>
        <p:spPr>
          <a:xfrm>
            <a:off x="3190875" y="4010025"/>
            <a:ext cx="0" cy="142875"/>
          </a:xfrm>
          <a:prstGeom prst="straightConnector1">
            <a:avLst/>
          </a:prstGeom>
          <a:ln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DFF9AF-5AEC-4D75-A754-D38EF76D4845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13DEDF-E44C-4D9D-BF3A-2B4662FF9D34}"/>
              </a:ext>
            </a:extLst>
          </p:cNvPr>
          <p:cNvSpPr>
            <a:spLocks noGrp="1"/>
          </p:cNvSpPr>
          <p:nvPr/>
        </p:nvSpPr>
        <p:spPr>
          <a:xfrm>
            <a:off x="7334250" y="234315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cxnSp>
        <p:nvCxnSpPr>
          <p:cNvPr id="48" name="Straight Arrow Connector 47"/>
          <p:cNvCxnSpPr>
            <a:stCxn id="16" idx="2"/>
            <a:endCxn id="17" idx="0"/>
          </p:cNvCxnSpPr>
          <p:nvPr/>
        </p:nvCxnSpPr>
        <p:spPr>
          <a:xfrm>
            <a:off x="9001125" y="2257425"/>
            <a:ext cx="0" cy="8572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F863A2-853A-475A-B7EC-8232D7348D22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Natural-Language Understanding</a:t>
            </a:r>
          </a:p>
        </p:txBody>
      </p:sp>
      <p:cxnSp>
        <p:nvCxnSpPr>
          <p:cNvPr id="50" name="Straight Arrow Connector 49"/>
          <p:cNvCxnSpPr>
            <a:stCxn id="17" idx="2"/>
            <a:endCxn id="19" idx="0"/>
          </p:cNvCxnSpPr>
          <p:nvPr/>
        </p:nvCxnSpPr>
        <p:spPr>
          <a:xfrm>
            <a:off x="9001125" y="2771775"/>
            <a:ext cx="0" cy="85725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655413-16FB-4E3B-AF28-DC1A4C728F97}"/>
              </a:ext>
            </a:extLst>
          </p:cNvPr>
          <p:cNvSpPr>
            <a:spLocks noGrp="1"/>
          </p:cNvSpPr>
          <p:nvPr/>
        </p:nvSpPr>
        <p:spPr>
          <a:xfrm>
            <a:off x="7334250" y="337185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LLM Reasoning</a:t>
            </a:r>
          </a:p>
        </p:txBody>
      </p:sp>
      <p:cxnSp>
        <p:nvCxnSpPr>
          <p:cNvPr id="52" name="Straight Arrow Connector 51"/>
          <p:cNvCxnSpPr>
            <a:stCxn id="19" idx="2"/>
            <a:endCxn id="21" idx="0"/>
          </p:cNvCxnSpPr>
          <p:nvPr/>
        </p:nvCxnSpPr>
        <p:spPr>
          <a:xfrm>
            <a:off x="9001125" y="3286125"/>
            <a:ext cx="0" cy="85725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4C7E2D-8E5D-4EDB-8362-D7E1ABF7E438}"/>
              </a:ext>
            </a:extLst>
          </p:cNvPr>
          <p:cNvSpPr>
            <a:spLocks noGrp="1"/>
          </p:cNvSpPr>
          <p:nvPr/>
        </p:nvSpPr>
        <p:spPr>
          <a:xfrm>
            <a:off x="7334250" y="388620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Task Planning</a:t>
            </a:r>
          </a:p>
        </p:txBody>
      </p:sp>
      <p:cxnSp>
        <p:nvCxnSpPr>
          <p:cNvPr id="54" name="Straight Arrow Connector 53"/>
          <p:cNvCxnSpPr>
            <a:stCxn id="21" idx="2"/>
            <a:endCxn id="23" idx="0"/>
          </p:cNvCxnSpPr>
          <p:nvPr/>
        </p:nvCxnSpPr>
        <p:spPr>
          <a:xfrm>
            <a:off x="9001125" y="3800475"/>
            <a:ext cx="0" cy="85725"/>
          </a:xfrm>
          <a:prstGeom prst="straightConnector1">
            <a:avLst/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2A8B7F-547C-41B6-936E-011BEF0853B9}"/>
              </a:ext>
            </a:extLst>
          </p:cNvPr>
          <p:cNvSpPr>
            <a:spLocks noGrp="1"/>
          </p:cNvSpPr>
          <p:nvPr/>
        </p:nvSpPr>
        <p:spPr>
          <a:xfrm>
            <a:off x="7334250" y="440055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Automation</a:t>
            </a:r>
          </a:p>
        </p:txBody>
      </p:sp>
      <p:cxnSp>
        <p:nvCxnSpPr>
          <p:cNvPr id="56" name="Straight Arrow Connector 55"/>
          <p:cNvCxnSpPr>
            <a:stCxn id="23" idx="2"/>
            <a:endCxn id="25" idx="0"/>
          </p:cNvCxnSpPr>
          <p:nvPr/>
        </p:nvCxnSpPr>
        <p:spPr>
          <a:xfrm>
            <a:off x="9001125" y="4314825"/>
            <a:ext cx="0" cy="85725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79B220-076B-4F54-882F-92EAF9D461F1}"/>
              </a:ext>
            </a:extLst>
          </p:cNvPr>
          <p:cNvSpPr>
            <a:spLocks noGrp="1"/>
          </p:cNvSpPr>
          <p:nvPr/>
        </p:nvSpPr>
        <p:spPr>
          <a:xfrm>
            <a:off x="7334250" y="4914900"/>
            <a:ext cx="3333750" cy="428625"/>
          </a:xfrm>
          <a:prstGeom prst="roundRect">
            <a:avLst>
              <a:gd name="adj" fmla="val 31111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Real Computer Action</a:t>
            </a:r>
          </a:p>
        </p:txBody>
      </p:sp>
      <p:cxnSp>
        <p:nvCxnSpPr>
          <p:cNvPr id="58" name="Straight Arrow Connector 57"/>
          <p:cNvCxnSpPr>
            <a:stCxn id="25" idx="2"/>
            <a:endCxn id="27" idx="0"/>
          </p:cNvCxnSpPr>
          <p:nvPr/>
        </p:nvCxnSpPr>
        <p:spPr>
          <a:xfrm>
            <a:off x="9001125" y="4829175"/>
            <a:ext cx="0" cy="85725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EDB41DA-9855-4003-A0F1-A60F1654D84F}"/>
              </a:ext>
            </a:extLst>
          </p:cNvPr>
          <p:cNvSpPr>
            <a:spLocks noGrp="1"/>
          </p:cNvSpPr>
          <p:nvPr/>
        </p:nvSpPr>
        <p:spPr>
          <a:xfrm>
            <a:off x="5486400" y="355282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VERSUS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6E54190-4B40-4F6A-94BF-F3FE9F096464}"/>
              </a:ext>
            </a:extLst>
          </p:cNvPr>
          <p:cNvSpPr>
            <a:spLocks noGrp="1"/>
          </p:cNvSpPr>
          <p:nvPr/>
        </p:nvSpPr>
        <p:spPr>
          <a:xfrm>
            <a:off x="1524000" y="5495925"/>
            <a:ext cx="9144000" cy="571500"/>
          </a:xfrm>
          <a:prstGeom prst="roundRect">
            <a:avLst>
              <a:gd name="adj" fmla="val 23333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 fontScale="90435" lnSpcReduction="10000"/>
          </a:bodyPr>
          <a:lstStyle/>
          <a:p>
            <a:pPr algn="ctr">
              <a:lnSpc>
                <a:spcPct val="100000"/>
              </a:lnSpc>
              <a:buNone/>
              <a:defRPr sz="157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Research/development gap: a desktop assistant that combines natural-language AI reasoning with actual computer automation while supporting flexible local and cloud AI processing.</a:t>
            </a:r>
          </a:p>
        </p:txBody>
      </p:sp>
    </p:spTree>
    <p:extLst>
      <p:ext uri="{BB962C8B-B14F-4D97-AF65-F5344CB8AC3E}">
        <p14:creationId xmlns:p14="http://schemas.microsoft.com/office/powerpoint/2010/main" val="74992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7551B5-8F97-4EC3-9F18-A97D246E86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DCD6B-BC3D-49B7-9528-DCD5CE3A2DA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GOALS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74BC75-A35C-42D3-8CD9-D6F7EEEA36ED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5. Aim and Objectives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BC38EC7-C635-4FCE-9FC9-52B1DA76FEE2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709BA15-F645-42F0-B12D-628D39C7B573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4DBEA-C3D4-4F9A-BE78-523D6FC6F5CA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E4765-2C45-43E3-AEF5-EBE62CDDF8A2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9FD491-993E-4070-830C-EE0442427039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11087100" cy="790575"/>
          </a:xfrm>
          <a:prstGeom prst="roundRect">
            <a:avLst>
              <a:gd name="adj" fmla="val 16867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228600" tIns="142875" rIns="228600" bIns="114300" anchor="ctr">
            <a:normAutofit fontScale="86593" lnSpcReduction="10000"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Aim: To develop an intelligent voice-controlled desktop assistant that uses Artificial Intelligence and desktop automation to understand natural-language commands and perform computer tasks efficiently.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5661BF-95A0-4F48-9039-836D65E97421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447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8770" lnSpcReduction="10000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Interaction and understanding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7A602-E256-4B3D-8B56-3185E1FCF2C4}"/>
              </a:ext>
            </a:extLst>
          </p:cNvPr>
          <p:cNvSpPr>
            <a:spLocks noGrp="1"/>
          </p:cNvSpPr>
          <p:nvPr/>
        </p:nvSpPr>
        <p:spPr>
          <a:xfrm>
            <a:off x="6524625" y="2457450"/>
            <a:ext cx="447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8770" lnSpcReduction="10000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Automation and integration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130468-0F70-4395-852D-9557C4839C48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476250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Develop a voice-based user interface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Convert speech into text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Understand natural-language commands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Use an LLM for intelligent reasoning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Provide text and voice responses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Improve user productivity through automation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E306FA-45C6-4AEC-84B7-4164348A1A26}"/>
              </a:ext>
            </a:extLst>
          </p:cNvPr>
          <p:cNvSpPr>
            <a:spLocks noGrp="1"/>
          </p:cNvSpPr>
          <p:nvPr/>
        </p:nvSpPr>
        <p:spPr>
          <a:xfrm>
            <a:off x="6477000" y="2847975"/>
            <a:ext cx="476250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Execute commands automatically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Open and control desktop applications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Perform web searches and browser operations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Automate communication-related tasks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Integrate local and cloud AI models</a:t>
            </a:r>
          </a:p>
          <a:p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Support configurable AI fallback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33576C-7313-4A36-AD28-DA72BBF29115}"/>
              </a:ext>
            </a:extLst>
          </p:cNvPr>
          <p:cNvSpPr>
            <a:spLocks noGrp="1"/>
          </p:cNvSpPr>
          <p:nvPr/>
        </p:nvSpPr>
        <p:spPr>
          <a:xfrm>
            <a:off x="4914900" y="5905500"/>
            <a:ext cx="1619250" cy="257175"/>
          </a:xfrm>
          <a:prstGeom prst="roundRect">
            <a:avLst>
              <a:gd name="adj" fmla="val 48148"/>
            </a:avLst>
          </a:prstGeom>
          <a:solidFill>
            <a:srgbClr val="0A2940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65173" lnSpcReduction="10000"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PLANNED / IMPLEMENTED</a:t>
            </a:r>
          </a:p>
        </p:txBody>
      </p:sp>
    </p:spTree>
    <p:extLst>
      <p:ext uri="{BB962C8B-B14F-4D97-AF65-F5344CB8AC3E}">
        <p14:creationId xmlns:p14="http://schemas.microsoft.com/office/powerpoint/2010/main" val="100648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DE0E9D6-7AAE-46D9-8F67-7BD89292DF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3AF693-50B5-40B5-89E0-6BA07BBE0AD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573A9-39D0-4547-99B5-92C5A6DD5209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6. Methodology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F133347-5988-420F-B60B-AAA37B722F91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824F6DF-8621-47DF-8006-BEB7E5FB719E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8933F-C400-4BE8-8777-D3C1A2D47B17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0E478F-061A-4744-A9B5-7CD01D5735E4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92FE9-7808-436A-A3FD-21A1405332B3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Architecture flow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5B6819-B9EF-427E-9C3E-D3AA11462749}"/>
              </a:ext>
            </a:extLst>
          </p:cNvPr>
          <p:cNvSpPr>
            <a:spLocks noGrp="1"/>
          </p:cNvSpPr>
          <p:nvPr/>
        </p:nvSpPr>
        <p:spPr>
          <a:xfrm>
            <a:off x="2428875" y="1647825"/>
            <a:ext cx="1714500" cy="361950"/>
          </a:xfrm>
          <a:prstGeom prst="roundRect">
            <a:avLst>
              <a:gd name="adj" fmla="val 36842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F0FDB0-395E-4E1D-B340-0982E9FCDEC6}"/>
              </a:ext>
            </a:extLst>
          </p:cNvPr>
          <p:cNvSpPr>
            <a:spLocks noGrp="1"/>
          </p:cNvSpPr>
          <p:nvPr/>
        </p:nvSpPr>
        <p:spPr>
          <a:xfrm>
            <a:off x="2190750" y="2190750"/>
            <a:ext cx="21907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7678EB-3E9B-441D-8FD0-B3F4684CCCE1}"/>
              </a:ext>
            </a:extLst>
          </p:cNvPr>
          <p:cNvSpPr>
            <a:spLocks noGrp="1"/>
          </p:cNvSpPr>
          <p:nvPr/>
        </p:nvSpPr>
        <p:spPr>
          <a:xfrm>
            <a:off x="2190750" y="2790825"/>
            <a:ext cx="21907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 Recognition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7A8E59-5020-4EF1-AEE7-86C387AFA687}"/>
              </a:ext>
            </a:extLst>
          </p:cNvPr>
          <p:cNvSpPr>
            <a:spLocks noGrp="1"/>
          </p:cNvSpPr>
          <p:nvPr/>
        </p:nvSpPr>
        <p:spPr>
          <a:xfrm>
            <a:off x="1866900" y="3390900"/>
            <a:ext cx="28384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Command / Intent Analyzer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4D075D-1BC0-445F-8064-80513B18B301}"/>
              </a:ext>
            </a:extLst>
          </p:cNvPr>
          <p:cNvSpPr>
            <a:spLocks noGrp="1"/>
          </p:cNvSpPr>
          <p:nvPr/>
        </p:nvSpPr>
        <p:spPr>
          <a:xfrm>
            <a:off x="2238375" y="3990975"/>
            <a:ext cx="2095500" cy="400050"/>
          </a:xfrm>
          <a:prstGeom prst="roundRect">
            <a:avLst>
              <a:gd name="adj" fmla="val 33333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Controller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8269B3-E788-48CF-9FC3-9609CC47D49B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1714500" cy="514350"/>
          </a:xfrm>
          <a:prstGeom prst="roundRect">
            <a:avLst>
              <a:gd name="adj" fmla="val 25926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 fontScale="93227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Ollama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Local AI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50E046-E57A-43FE-8F2A-8803448BC52E}"/>
              </a:ext>
            </a:extLst>
          </p:cNvPr>
          <p:cNvSpPr>
            <a:spLocks noGrp="1"/>
          </p:cNvSpPr>
          <p:nvPr/>
        </p:nvSpPr>
        <p:spPr>
          <a:xfrm>
            <a:off x="3924300" y="4686300"/>
            <a:ext cx="1714500" cy="514350"/>
          </a:xfrm>
          <a:prstGeom prst="roundRect">
            <a:avLst>
              <a:gd name="adj" fmla="val 25926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 fontScale="93227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NVIDIA NIM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AI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3FAF57-427E-47BA-BAD2-D3F72B0E358E}"/>
              </a:ext>
            </a:extLst>
          </p:cNvPr>
          <p:cNvSpPr>
            <a:spLocks noGrp="1"/>
          </p:cNvSpPr>
          <p:nvPr/>
        </p:nvSpPr>
        <p:spPr>
          <a:xfrm>
            <a:off x="2238375" y="5438775"/>
            <a:ext cx="2095500" cy="400050"/>
          </a:xfrm>
          <a:prstGeom prst="roundRect">
            <a:avLst>
              <a:gd name="adj" fmla="val 33333"/>
            </a:avLst>
          </a:prstGeom>
          <a:solidFill>
            <a:srgbClr val="0C2239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Task Planner</a:t>
            </a:r>
          </a:p>
        </p:txBody>
      </p:sp>
      <p:cxnSp>
        <p:nvCxnSpPr>
          <p:cNvPr id="54" name="Straight Arrow Connector 53"/>
          <p:cNvCxnSpPr>
            <a:stCxn id="9" idx="2"/>
            <a:endCxn id="10" idx="0"/>
          </p:cNvCxnSpPr>
          <p:nvPr/>
        </p:nvCxnSpPr>
        <p:spPr>
          <a:xfrm>
            <a:off x="3286125" y="2009775"/>
            <a:ext cx="0" cy="18097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5" name="Straight Arrow Connector 54"/>
          <p:cNvCxnSpPr>
            <a:stCxn id="10" idx="2"/>
            <a:endCxn id="11" idx="0"/>
          </p:cNvCxnSpPr>
          <p:nvPr/>
        </p:nvCxnSpPr>
        <p:spPr>
          <a:xfrm>
            <a:off x="3286125" y="2590800"/>
            <a:ext cx="0" cy="20002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6" name="Straight Arrow Connector 55"/>
          <p:cNvCxnSpPr>
            <a:stCxn id="11" idx="2"/>
            <a:endCxn id="12" idx="0"/>
          </p:cNvCxnSpPr>
          <p:nvPr/>
        </p:nvCxnSpPr>
        <p:spPr>
          <a:xfrm>
            <a:off x="3286125" y="3190875"/>
            <a:ext cx="0" cy="20002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7" name="Straight Arrow Connector 56"/>
          <p:cNvCxnSpPr>
            <a:stCxn id="12" idx="2"/>
            <a:endCxn id="13" idx="0"/>
          </p:cNvCxnSpPr>
          <p:nvPr/>
        </p:nvCxnSpPr>
        <p:spPr>
          <a:xfrm>
            <a:off x="3286125" y="3790950"/>
            <a:ext cx="0" cy="20002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8" name="Connector: Elbow 57"/>
          <p:cNvCxnSpPr>
            <a:stCxn id="13" idx="2"/>
            <a:endCxn id="14" idx="0"/>
          </p:cNvCxnSpPr>
          <p:nvPr/>
        </p:nvCxnSpPr>
        <p:spPr>
          <a:xfrm flipH="1">
            <a:off x="1790700" y="4391025"/>
            <a:ext cx="1495425" cy="295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59" name="Connector: Elbow 58"/>
          <p:cNvCxnSpPr>
            <a:stCxn id="13" idx="2"/>
            <a:endCxn id="15" idx="0"/>
          </p:cNvCxnSpPr>
          <p:nvPr/>
        </p:nvCxnSpPr>
        <p:spPr>
          <a:xfrm>
            <a:off x="3286125" y="4391025"/>
            <a:ext cx="1495425" cy="295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60" name="Connector: Elbow 59"/>
          <p:cNvCxnSpPr>
            <a:stCxn id="14" idx="2"/>
            <a:endCxn id="16" idx="1"/>
          </p:cNvCxnSpPr>
          <p:nvPr/>
        </p:nvCxnSpPr>
        <p:spPr>
          <a:xfrm>
            <a:off x="1790700" y="5200650"/>
            <a:ext cx="447675" cy="438150"/>
          </a:xfrm>
          <a:prstGeom prst="bentConnector5">
            <a:avLst>
              <a:gd name="adj1" fmla="val 0"/>
              <a:gd name="adj2" fmla="val 52174"/>
              <a:gd name="adj3" fmla="val 48936"/>
            </a:avLst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cxnSp>
        <p:nvCxnSpPr>
          <p:cNvPr id="61" name="Connector: Elbow 60"/>
          <p:cNvCxnSpPr>
            <a:stCxn id="15" idx="2"/>
            <a:endCxn id="16" idx="3"/>
          </p:cNvCxnSpPr>
          <p:nvPr/>
        </p:nvCxnSpPr>
        <p:spPr>
          <a:xfrm flipH="1">
            <a:off x="4333875" y="5200650"/>
            <a:ext cx="447675" cy="438150"/>
          </a:xfrm>
          <a:prstGeom prst="bentConnector5">
            <a:avLst>
              <a:gd name="adj1" fmla="val 0"/>
              <a:gd name="adj2" fmla="val 52174"/>
              <a:gd name="adj3" fmla="val 48936"/>
            </a:avLst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69301B-E1DB-4C82-8921-19B1F17037F8}"/>
              </a:ext>
            </a:extLst>
          </p:cNvPr>
          <p:cNvSpPr>
            <a:spLocks noGrp="1"/>
          </p:cNvSpPr>
          <p:nvPr/>
        </p:nvSpPr>
        <p:spPr>
          <a:xfrm>
            <a:off x="7239000" y="1990725"/>
            <a:ext cx="2762250" cy="419100"/>
          </a:xfrm>
          <a:prstGeom prst="roundRect">
            <a:avLst>
              <a:gd name="adj" fmla="val 31818"/>
            </a:avLst>
          </a:prstGeom>
          <a:solidFill>
            <a:srgbClr val="0C2239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Action / Automation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CCF15E-85D1-4928-A854-85D75B348035}"/>
              </a:ext>
            </a:extLst>
          </p:cNvPr>
          <p:cNvSpPr>
            <a:spLocks noGrp="1"/>
          </p:cNvSpPr>
          <p:nvPr/>
        </p:nvSpPr>
        <p:spPr>
          <a:xfrm>
            <a:off x="6381750" y="3209925"/>
            <a:ext cx="142875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8435"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Windows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4F7180-4843-43DE-B1C9-FDE083AF36B8}"/>
              </a:ext>
            </a:extLst>
          </p:cNvPr>
          <p:cNvSpPr>
            <a:spLocks noGrp="1"/>
          </p:cNvSpPr>
          <p:nvPr/>
        </p:nvSpPr>
        <p:spPr>
          <a:xfrm>
            <a:off x="8001000" y="3209925"/>
            <a:ext cx="142875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8435"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Browser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D883E9-C1E4-45FC-8641-C0696C59E8B3}"/>
              </a:ext>
            </a:extLst>
          </p:cNvPr>
          <p:cNvSpPr>
            <a:spLocks noGrp="1"/>
          </p:cNvSpPr>
          <p:nvPr/>
        </p:nvSpPr>
        <p:spPr>
          <a:xfrm>
            <a:off x="9620250" y="3209925"/>
            <a:ext cx="142875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8435"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Apps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1AA7C2-D785-458E-A059-432F17B06D72}"/>
              </a:ext>
            </a:extLst>
          </p:cNvPr>
          <p:cNvSpPr>
            <a:spLocks noGrp="1"/>
          </p:cNvSpPr>
          <p:nvPr/>
        </p:nvSpPr>
        <p:spPr>
          <a:xfrm>
            <a:off x="7810500" y="4600575"/>
            <a:ext cx="2000250" cy="428625"/>
          </a:xfrm>
          <a:prstGeom prst="roundRect">
            <a:avLst>
              <a:gd name="adj" fmla="val 31111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Text / Voice Response</a:t>
            </a:r>
          </a:p>
        </p:txBody>
      </p:sp>
      <p:cxnSp>
        <p:nvCxnSpPr>
          <p:cNvPr id="67" name="Connector: Elbow 66"/>
          <p:cNvCxnSpPr>
            <a:stCxn id="16" idx="3"/>
            <a:endCxn id="25" idx="1"/>
          </p:cNvCxnSpPr>
          <p:nvPr/>
        </p:nvCxnSpPr>
        <p:spPr>
          <a:xfrm flipV="1">
            <a:off x="4333875" y="2200275"/>
            <a:ext cx="2905125" cy="3438525"/>
          </a:xfrm>
          <a:prstGeom prst="bentConnector3">
            <a:avLst>
              <a:gd name="adj1" fmla="val 50000"/>
            </a:avLst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8" name="Connector: Elbow 67"/>
          <p:cNvCxnSpPr>
            <a:stCxn id="25" idx="2"/>
            <a:endCxn id="26" idx="0"/>
          </p:cNvCxnSpPr>
          <p:nvPr/>
        </p:nvCxnSpPr>
        <p:spPr>
          <a:xfrm flipH="1">
            <a:off x="7096125" y="2409825"/>
            <a:ext cx="1524000" cy="800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9" name="Straight Arrow Connector 68"/>
          <p:cNvCxnSpPr>
            <a:stCxn id="25" idx="2"/>
            <a:endCxn id="27" idx="0"/>
          </p:cNvCxnSpPr>
          <p:nvPr/>
        </p:nvCxnSpPr>
        <p:spPr>
          <a:xfrm>
            <a:off x="8620125" y="2409825"/>
            <a:ext cx="95250" cy="8001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70" name="Connector: Elbow 69"/>
          <p:cNvCxnSpPr>
            <a:stCxn id="25" idx="2"/>
            <a:endCxn id="28" idx="0"/>
          </p:cNvCxnSpPr>
          <p:nvPr/>
        </p:nvCxnSpPr>
        <p:spPr>
          <a:xfrm>
            <a:off x="8620125" y="2409825"/>
            <a:ext cx="1714500" cy="800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71" name="Connector: Elbow 70"/>
          <p:cNvCxnSpPr>
            <a:stCxn id="26" idx="2"/>
            <a:endCxn id="29" idx="0"/>
          </p:cNvCxnSpPr>
          <p:nvPr/>
        </p:nvCxnSpPr>
        <p:spPr>
          <a:xfrm>
            <a:off x="7096125" y="3743325"/>
            <a:ext cx="1714500" cy="857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72" name="Straight Arrow Connector 71"/>
          <p:cNvCxnSpPr>
            <a:stCxn id="27" idx="2"/>
            <a:endCxn id="29" idx="0"/>
          </p:cNvCxnSpPr>
          <p:nvPr/>
        </p:nvCxnSpPr>
        <p:spPr>
          <a:xfrm>
            <a:off x="8715375" y="3743325"/>
            <a:ext cx="95250" cy="85725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73" name="Connector: Elbow 72"/>
          <p:cNvCxnSpPr>
            <a:stCxn id="28" idx="2"/>
            <a:endCxn id="29" idx="0"/>
          </p:cNvCxnSpPr>
          <p:nvPr/>
        </p:nvCxnSpPr>
        <p:spPr>
          <a:xfrm flipH="1">
            <a:off x="8810625" y="3743325"/>
            <a:ext cx="1524000" cy="857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9770948-050E-434F-A479-2C609E1CC357}"/>
              </a:ext>
            </a:extLst>
          </p:cNvPr>
          <p:cNvSpPr>
            <a:spLocks noGrp="1"/>
          </p:cNvSpPr>
          <p:nvPr/>
        </p:nvSpPr>
        <p:spPr>
          <a:xfrm>
            <a:off x="7239000" y="5353050"/>
            <a:ext cx="33337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73260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1 Voice input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2 Speech-to-text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3 Intent understanding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4 AI processing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5 Task planning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6 Desktop automation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7 Response</a:t>
            </a:r>
          </a:p>
        </p:txBody>
      </p:sp>
    </p:spTree>
    <p:extLst>
      <p:ext uri="{BB962C8B-B14F-4D97-AF65-F5344CB8AC3E}">
        <p14:creationId xmlns:p14="http://schemas.microsoft.com/office/powerpoint/2010/main" val="10273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C76ED41-1120-4B2F-A0B0-27DC0796B7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47F81-99DA-4FDB-BE33-AB3EFF5A1A7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SYSTEM WORKING /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DDFE9-F58C-477C-B013-F7B60C7B96E5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How JARVIS OS Works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C714FB-715F-47D8-86C4-0567EDD59C6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E45122D-C153-4F98-ADDA-748F8352C660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9D65D9-B3C9-41C0-80AE-5CD2187275B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965875-9E20-4306-A0B5-3D746363AD20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E2DC9-3902-4C01-8259-41D5A354ABB9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Example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22E4F6-77FC-45E1-B4A3-295897DD9B55}"/>
              </a:ext>
            </a:extLst>
          </p:cNvPr>
          <p:cNvSpPr>
            <a:spLocks noGrp="1"/>
          </p:cNvSpPr>
          <p:nvPr/>
        </p:nvSpPr>
        <p:spPr>
          <a:xfrm>
            <a:off x="666750" y="1704975"/>
            <a:ext cx="4953000" cy="495300"/>
          </a:xfrm>
          <a:prstGeom prst="roundRect">
            <a:avLst>
              <a:gd name="adj" fmla="val 26923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“Open Chrome and search for today’s weather.”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5330A6-8E35-4739-A42C-73281E1A7537}"/>
              </a:ext>
            </a:extLst>
          </p:cNvPr>
          <p:cNvSpPr>
            <a:spLocks noGrp="1"/>
          </p:cNvSpPr>
          <p:nvPr/>
        </p:nvSpPr>
        <p:spPr>
          <a:xfrm>
            <a:off x="1619250" y="24193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160091-8708-471D-ADFC-93D6754D8582}"/>
              </a:ext>
            </a:extLst>
          </p:cNvPr>
          <p:cNvSpPr>
            <a:spLocks noGrp="1"/>
          </p:cNvSpPr>
          <p:nvPr/>
        </p:nvSpPr>
        <p:spPr>
          <a:xfrm>
            <a:off x="1619250" y="28384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Speech-to-Text</a:t>
            </a:r>
          </a:p>
        </p:txBody>
      </p:sp>
      <p:cxnSp>
        <p:nvCxnSpPr>
          <p:cNvPr id="50" name="Straight Arrow Connector 49"/>
          <p:cNvCxnSpPr>
            <a:stCxn id="10" idx="2"/>
            <a:endCxn id="11" idx="0"/>
          </p:cNvCxnSpPr>
          <p:nvPr/>
        </p:nvCxnSpPr>
        <p:spPr>
          <a:xfrm>
            <a:off x="3143250" y="2762250"/>
            <a:ext cx="0" cy="762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83490E-0AEC-4672-993A-FA7572B257BE}"/>
              </a:ext>
            </a:extLst>
          </p:cNvPr>
          <p:cNvSpPr>
            <a:spLocks noGrp="1"/>
          </p:cNvSpPr>
          <p:nvPr/>
        </p:nvSpPr>
        <p:spPr>
          <a:xfrm>
            <a:off x="1619250" y="32575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Intent Detection</a:t>
            </a:r>
          </a:p>
        </p:txBody>
      </p:sp>
      <p:cxnSp>
        <p:nvCxnSpPr>
          <p:cNvPr id="52" name="Straight Arrow Connector 51"/>
          <p:cNvCxnSpPr>
            <a:stCxn id="11" idx="2"/>
            <a:endCxn id="13" idx="0"/>
          </p:cNvCxnSpPr>
          <p:nvPr/>
        </p:nvCxnSpPr>
        <p:spPr>
          <a:xfrm>
            <a:off x="3143250" y="3181350"/>
            <a:ext cx="0" cy="76200"/>
          </a:xfrm>
          <a:prstGeom prst="straightConnector1">
            <a:avLst/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941409-AEAD-4B4F-9339-4F06B2CF81BB}"/>
              </a:ext>
            </a:extLst>
          </p:cNvPr>
          <p:cNvSpPr>
            <a:spLocks noGrp="1"/>
          </p:cNvSpPr>
          <p:nvPr/>
        </p:nvSpPr>
        <p:spPr>
          <a:xfrm>
            <a:off x="1619250" y="36766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Action Planning</a:t>
            </a:r>
          </a:p>
        </p:txBody>
      </p:sp>
      <p:cxnSp>
        <p:nvCxnSpPr>
          <p:cNvPr id="54" name="Straight Arrow Connector 53"/>
          <p:cNvCxnSpPr>
            <a:stCxn id="13" idx="2"/>
            <a:endCxn id="15" idx="0"/>
          </p:cNvCxnSpPr>
          <p:nvPr/>
        </p:nvCxnSpPr>
        <p:spPr>
          <a:xfrm>
            <a:off x="3143250" y="3600450"/>
            <a:ext cx="0" cy="76200"/>
          </a:xfrm>
          <a:prstGeom prst="straightConnector1">
            <a:avLst/>
          </a:prstGeom>
          <a:ln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214022-4EB2-4DFB-8740-DFB2BAD70870}"/>
              </a:ext>
            </a:extLst>
          </p:cNvPr>
          <p:cNvSpPr>
            <a:spLocks noGrp="1"/>
          </p:cNvSpPr>
          <p:nvPr/>
        </p:nvSpPr>
        <p:spPr>
          <a:xfrm>
            <a:off x="1619250" y="40957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Open Chrome</a:t>
            </a:r>
          </a:p>
        </p:txBody>
      </p:sp>
      <p:cxnSp>
        <p:nvCxnSpPr>
          <p:cNvPr id="56" name="Straight Arrow Connector 55"/>
          <p:cNvCxnSpPr>
            <a:stCxn id="15" idx="2"/>
            <a:endCxn id="17" idx="0"/>
          </p:cNvCxnSpPr>
          <p:nvPr/>
        </p:nvCxnSpPr>
        <p:spPr>
          <a:xfrm>
            <a:off x="3143250" y="4019550"/>
            <a:ext cx="0" cy="762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92A663-3905-4236-8974-19E5459A96AE}"/>
              </a:ext>
            </a:extLst>
          </p:cNvPr>
          <p:cNvSpPr>
            <a:spLocks noGrp="1"/>
          </p:cNvSpPr>
          <p:nvPr/>
        </p:nvSpPr>
        <p:spPr>
          <a:xfrm>
            <a:off x="1619250" y="45148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Enter Search Query</a:t>
            </a:r>
          </a:p>
        </p:txBody>
      </p:sp>
      <p:cxnSp>
        <p:nvCxnSpPr>
          <p:cNvPr id="58" name="Straight Arrow Connector 57"/>
          <p:cNvCxnSpPr>
            <a:stCxn id="17" idx="2"/>
            <a:endCxn id="19" idx="0"/>
          </p:cNvCxnSpPr>
          <p:nvPr/>
        </p:nvCxnSpPr>
        <p:spPr>
          <a:xfrm>
            <a:off x="3143250" y="4438650"/>
            <a:ext cx="0" cy="762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B61E98-8F90-4A8A-886E-6281B44BC635}"/>
              </a:ext>
            </a:extLst>
          </p:cNvPr>
          <p:cNvSpPr>
            <a:spLocks noGrp="1"/>
          </p:cNvSpPr>
          <p:nvPr/>
        </p:nvSpPr>
        <p:spPr>
          <a:xfrm>
            <a:off x="1619250" y="49339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Execute Search</a:t>
            </a:r>
          </a:p>
        </p:txBody>
      </p:sp>
      <p:cxnSp>
        <p:nvCxnSpPr>
          <p:cNvPr id="60" name="Straight Arrow Connector 59"/>
          <p:cNvCxnSpPr>
            <a:stCxn id="19" idx="2"/>
            <a:endCxn id="21" idx="0"/>
          </p:cNvCxnSpPr>
          <p:nvPr/>
        </p:nvCxnSpPr>
        <p:spPr>
          <a:xfrm>
            <a:off x="3143250" y="4857750"/>
            <a:ext cx="0" cy="76200"/>
          </a:xfrm>
          <a:prstGeom prst="straightConnector1">
            <a:avLst/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1CC245-9E30-4F46-9502-F48F1FF8C6C8}"/>
              </a:ext>
            </a:extLst>
          </p:cNvPr>
          <p:cNvSpPr>
            <a:spLocks noGrp="1"/>
          </p:cNvSpPr>
          <p:nvPr/>
        </p:nvSpPr>
        <p:spPr>
          <a:xfrm>
            <a:off x="1619250" y="5353050"/>
            <a:ext cx="3048000" cy="342900"/>
          </a:xfrm>
          <a:prstGeom prst="roundRect">
            <a:avLst>
              <a:gd name="adj" fmla="val 38889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4750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62" name="Straight Arrow Connector 61"/>
          <p:cNvCxnSpPr>
            <a:stCxn id="21" idx="2"/>
            <a:endCxn id="23" idx="0"/>
          </p:cNvCxnSpPr>
          <p:nvPr/>
        </p:nvCxnSpPr>
        <p:spPr>
          <a:xfrm>
            <a:off x="3143250" y="5276850"/>
            <a:ext cx="0" cy="762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60D046-14BE-46B5-8037-AFE9ED461939}"/>
              </a:ext>
            </a:extLst>
          </p:cNvPr>
          <p:cNvSpPr>
            <a:spLocks noGrp="1"/>
          </p:cNvSpPr>
          <p:nvPr/>
        </p:nvSpPr>
        <p:spPr>
          <a:xfrm>
            <a:off x="2524125" y="5829300"/>
            <a:ext cx="1619250" cy="257175"/>
          </a:xfrm>
          <a:prstGeom prst="roundRect">
            <a:avLst>
              <a:gd name="adj" fmla="val 48148"/>
            </a:avLst>
          </a:prstGeom>
          <a:solidFill>
            <a:srgbClr val="0A2940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65173" lnSpcReduction="10000"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IMPLEMENTED ROUTING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063E0E-8EF9-4799-8C66-9F06A3B8705A}"/>
              </a:ext>
            </a:extLst>
          </p:cNvPr>
          <p:cNvSpPr>
            <a:spLocks noGrp="1"/>
          </p:cNvSpPr>
          <p:nvPr/>
        </p:nvSpPr>
        <p:spPr>
          <a:xfrm>
            <a:off x="6667500" y="1390650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Example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4D1BEBB-100F-4773-A3F4-81A4815E0DFC}"/>
              </a:ext>
            </a:extLst>
          </p:cNvPr>
          <p:cNvSpPr>
            <a:spLocks noGrp="1"/>
          </p:cNvSpPr>
          <p:nvPr/>
        </p:nvSpPr>
        <p:spPr>
          <a:xfrm>
            <a:off x="6667500" y="1704975"/>
            <a:ext cx="4762500" cy="685800"/>
          </a:xfrm>
          <a:prstGeom prst="roundRect">
            <a:avLst>
              <a:gd name="adj" fmla="val 19444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“Open WhatsApp and send Rahul a message saying I’ll reach college in 20 minutes.”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B05BD58-C64B-4FE2-BDFC-0CE9F974CE2A}"/>
              </a:ext>
            </a:extLst>
          </p:cNvPr>
          <p:cNvSpPr>
            <a:spLocks noGrp="1"/>
          </p:cNvSpPr>
          <p:nvPr/>
        </p:nvSpPr>
        <p:spPr>
          <a:xfrm>
            <a:off x="7124700" y="2714625"/>
            <a:ext cx="3857625" cy="361950"/>
          </a:xfrm>
          <a:prstGeom prst="roundRect">
            <a:avLst>
              <a:gd name="adj" fmla="val 3684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Launch / focus WhatsApp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3F44E0-D50E-47D7-AF4F-896ED710164C}"/>
              </a:ext>
            </a:extLst>
          </p:cNvPr>
          <p:cNvSpPr>
            <a:spLocks noGrp="1"/>
          </p:cNvSpPr>
          <p:nvPr/>
        </p:nvSpPr>
        <p:spPr>
          <a:xfrm>
            <a:off x="7124700" y="3228975"/>
            <a:ext cx="3857625" cy="361950"/>
          </a:xfrm>
          <a:prstGeom prst="roundRect">
            <a:avLst>
              <a:gd name="adj" fmla="val 3684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Search for contact</a:t>
            </a:r>
          </a:p>
        </p:txBody>
      </p:sp>
      <p:cxnSp>
        <p:nvCxnSpPr>
          <p:cNvPr id="68" name="Straight Arrow Connector 67"/>
          <p:cNvCxnSpPr>
            <a:stCxn id="28" idx="2"/>
            <a:endCxn id="29" idx="0"/>
          </p:cNvCxnSpPr>
          <p:nvPr/>
        </p:nvCxnSpPr>
        <p:spPr>
          <a:xfrm>
            <a:off x="9053513" y="3076575"/>
            <a:ext cx="0" cy="1524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7E7E796-3459-444B-8976-AD17893F2B77}"/>
              </a:ext>
            </a:extLst>
          </p:cNvPr>
          <p:cNvSpPr>
            <a:spLocks noGrp="1"/>
          </p:cNvSpPr>
          <p:nvPr/>
        </p:nvSpPr>
        <p:spPr>
          <a:xfrm>
            <a:off x="7124700" y="3743325"/>
            <a:ext cx="3857625" cy="361950"/>
          </a:xfrm>
          <a:prstGeom prst="roundRect">
            <a:avLst>
              <a:gd name="adj" fmla="val 3684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Type message</a:t>
            </a:r>
          </a:p>
        </p:txBody>
      </p:sp>
      <p:cxnSp>
        <p:nvCxnSpPr>
          <p:cNvPr id="70" name="Straight Arrow Connector 69"/>
          <p:cNvCxnSpPr>
            <a:stCxn id="29" idx="2"/>
            <a:endCxn id="31" idx="0"/>
          </p:cNvCxnSpPr>
          <p:nvPr/>
        </p:nvCxnSpPr>
        <p:spPr>
          <a:xfrm>
            <a:off x="9053513" y="3590925"/>
            <a:ext cx="0" cy="1524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EE3909-CA2E-4FAA-A7E9-55A068B23F20}"/>
              </a:ext>
            </a:extLst>
          </p:cNvPr>
          <p:cNvSpPr>
            <a:spLocks noGrp="1"/>
          </p:cNvSpPr>
          <p:nvPr/>
        </p:nvSpPr>
        <p:spPr>
          <a:xfrm>
            <a:off x="7124700" y="4257675"/>
            <a:ext cx="3857625" cy="361950"/>
          </a:xfrm>
          <a:prstGeom prst="roundRect">
            <a:avLst>
              <a:gd name="adj" fmla="val 36842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Ask for confirmation</a:t>
            </a:r>
          </a:p>
        </p:txBody>
      </p:sp>
      <p:cxnSp>
        <p:nvCxnSpPr>
          <p:cNvPr id="72" name="Straight Arrow Connector 71"/>
          <p:cNvCxnSpPr>
            <a:stCxn id="31" idx="2"/>
            <a:endCxn id="33" idx="0"/>
          </p:cNvCxnSpPr>
          <p:nvPr/>
        </p:nvCxnSpPr>
        <p:spPr>
          <a:xfrm>
            <a:off x="9053513" y="4105275"/>
            <a:ext cx="0" cy="1524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DC0C6EB-D7FC-484A-A907-8780F47A59B9}"/>
              </a:ext>
            </a:extLst>
          </p:cNvPr>
          <p:cNvSpPr>
            <a:spLocks noGrp="1"/>
          </p:cNvSpPr>
          <p:nvPr/>
        </p:nvSpPr>
        <p:spPr>
          <a:xfrm>
            <a:off x="7124700" y="4772025"/>
            <a:ext cx="3857625" cy="361950"/>
          </a:xfrm>
          <a:prstGeom prst="roundRect">
            <a:avLst>
              <a:gd name="adj" fmla="val 3684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Send message</a:t>
            </a:r>
          </a:p>
        </p:txBody>
      </p:sp>
      <p:cxnSp>
        <p:nvCxnSpPr>
          <p:cNvPr id="74" name="Straight Arrow Connector 73"/>
          <p:cNvCxnSpPr>
            <a:stCxn id="33" idx="2"/>
            <a:endCxn id="35" idx="0"/>
          </p:cNvCxnSpPr>
          <p:nvPr/>
        </p:nvCxnSpPr>
        <p:spPr>
          <a:xfrm>
            <a:off x="9053513" y="4619625"/>
            <a:ext cx="0" cy="15240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CEA8640-2EEB-43A5-B30E-9794FD5C11AD}"/>
              </a:ext>
            </a:extLst>
          </p:cNvPr>
          <p:cNvSpPr>
            <a:spLocks noGrp="1"/>
          </p:cNvSpPr>
          <p:nvPr/>
        </p:nvSpPr>
        <p:spPr>
          <a:xfrm>
            <a:off x="8124825" y="5562600"/>
            <a:ext cx="1619250" cy="257175"/>
          </a:xfrm>
          <a:prstGeom prst="roundRect">
            <a:avLst>
              <a:gd name="adj" fmla="val 48148"/>
            </a:avLst>
          </a:prstGeom>
          <a:solidFill>
            <a:srgbClr val="0A2940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 fontScale="65173" lnSpcReduction="10000"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REQUIRES APP + CONFIRMATION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8C0CD2-C6BD-412F-84A3-9E76D47FA3E4}"/>
              </a:ext>
            </a:extLst>
          </p:cNvPr>
          <p:cNvSpPr>
            <a:spLocks noGrp="1"/>
          </p:cNvSpPr>
          <p:nvPr/>
        </p:nvSpPr>
        <p:spPr>
          <a:xfrm>
            <a:off x="1409700" y="6038850"/>
            <a:ext cx="937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8203"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Actual behaviour depends on installed applications, access permissions and the current application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103311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05A321D-570C-46B5-A4EB-8098BC8398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CD160-FF81-4120-BBB8-7E7783957D9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PROVIDER ROUTING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850A5-A63A-4DF4-9B40-00E05BD781D4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Architecture – Local + Cloud Fallback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FF4A10D-4709-4111-B9CC-96BFFE718614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39BDE51-42E7-4DED-AA9B-E1F18759DC90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7B9C2-A04B-47B5-80CD-DE2E6A7EC0F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0399E6-AF2F-4D94-8E7B-9A8CD5B62E66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865990-6489-4960-B105-D49A6FAFF39C}"/>
              </a:ext>
            </a:extLst>
          </p:cNvPr>
          <p:cNvSpPr>
            <a:spLocks noGrp="1"/>
          </p:cNvSpPr>
          <p:nvPr/>
        </p:nvSpPr>
        <p:spPr>
          <a:xfrm>
            <a:off x="1143000" y="14668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 lnSpcReduction="10000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Local processing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F621ED-62EC-4854-A7A1-AE5E53D42D12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4993F7-647E-46CC-A1FE-232194D31D9E}"/>
              </a:ext>
            </a:extLst>
          </p:cNvPr>
          <p:cNvSpPr>
            <a:spLocks noGrp="1"/>
          </p:cNvSpPr>
          <p:nvPr/>
        </p:nvSpPr>
        <p:spPr>
          <a:xfrm>
            <a:off x="1047750" y="2524125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cxnSp>
        <p:nvCxnSpPr>
          <p:cNvPr id="42" name="Straight Arrow Connector 41"/>
          <p:cNvCxnSpPr>
            <a:stCxn id="9" idx="2"/>
            <a:endCxn id="10" idx="0"/>
          </p:cNvCxnSpPr>
          <p:nvPr/>
        </p:nvCxnSpPr>
        <p:spPr>
          <a:xfrm>
            <a:off x="2476500" y="2381250"/>
            <a:ext cx="0" cy="142875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9B2C3F-A9DF-4565-8D23-7E406CC896FF}"/>
              </a:ext>
            </a:extLst>
          </p:cNvPr>
          <p:cNvSpPr>
            <a:spLocks noGrp="1"/>
          </p:cNvSpPr>
          <p:nvPr/>
        </p:nvSpPr>
        <p:spPr>
          <a:xfrm>
            <a:off x="1047750" y="3200400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2645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Privacy / offline-capable processing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where supported</a:t>
            </a:r>
          </a:p>
        </p:txBody>
      </p:sp>
      <p:cxnSp>
        <p:nvCxnSpPr>
          <p:cNvPr id="44" name="Straight Arrow Connector 43"/>
          <p:cNvCxnSpPr>
            <a:stCxn id="10" idx="2"/>
            <a:endCxn id="12" idx="0"/>
          </p:cNvCxnSpPr>
          <p:nvPr/>
        </p:nvCxnSpPr>
        <p:spPr>
          <a:xfrm>
            <a:off x="2476500" y="3057525"/>
            <a:ext cx="0" cy="14287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5B724-E5D1-41DA-A0F5-CA737417C2F9}"/>
              </a:ext>
            </a:extLst>
          </p:cNvPr>
          <p:cNvSpPr>
            <a:spLocks noGrp="1"/>
          </p:cNvSpPr>
          <p:nvPr/>
        </p:nvSpPr>
        <p:spPr>
          <a:xfrm>
            <a:off x="7810500" y="14668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 lnSpcReduction="10000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Additional cloud capability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338C44-CF7D-4CAB-99CE-29569335E301}"/>
              </a:ext>
            </a:extLst>
          </p:cNvPr>
          <p:cNvSpPr>
            <a:spLocks noGrp="1"/>
          </p:cNvSpPr>
          <p:nvPr/>
        </p:nvSpPr>
        <p:spPr>
          <a:xfrm>
            <a:off x="7620000" y="1847850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NVIDIA NIM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5EFF61-83C3-4C57-A74B-3BE0CF1C4361}"/>
              </a:ext>
            </a:extLst>
          </p:cNvPr>
          <p:cNvSpPr>
            <a:spLocks noGrp="1"/>
          </p:cNvSpPr>
          <p:nvPr/>
        </p:nvSpPr>
        <p:spPr>
          <a:xfrm>
            <a:off x="7620000" y="2524125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Cloud-hosted AI capability</a:t>
            </a:r>
          </a:p>
        </p:txBody>
      </p:sp>
      <p:cxnSp>
        <p:nvCxnSpPr>
          <p:cNvPr id="48" name="Straight Arrow Connector 47"/>
          <p:cNvCxnSpPr>
            <a:stCxn id="15" idx="2"/>
            <a:endCxn id="16" idx="0"/>
          </p:cNvCxnSpPr>
          <p:nvPr/>
        </p:nvCxnSpPr>
        <p:spPr>
          <a:xfrm>
            <a:off x="9048750" y="2381250"/>
            <a:ext cx="0" cy="142875"/>
          </a:xfrm>
          <a:prstGeom prst="straightConnector1">
            <a:avLst/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0FDE9A-43A1-4B5C-90A0-E0943CA87AA5}"/>
              </a:ext>
            </a:extLst>
          </p:cNvPr>
          <p:cNvSpPr>
            <a:spLocks noGrp="1"/>
          </p:cNvSpPr>
          <p:nvPr/>
        </p:nvSpPr>
        <p:spPr>
          <a:xfrm>
            <a:off x="7620000" y="3200400"/>
            <a:ext cx="2857500" cy="533400"/>
          </a:xfrm>
          <a:prstGeom prst="roundRect">
            <a:avLst>
              <a:gd name="adj" fmla="val 25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50" name="Straight Arrow Connector 49"/>
          <p:cNvCxnSpPr>
            <a:stCxn id="16" idx="2"/>
            <a:endCxn id="18" idx="0"/>
          </p:cNvCxnSpPr>
          <p:nvPr/>
        </p:nvCxnSpPr>
        <p:spPr>
          <a:xfrm>
            <a:off x="9048750" y="3057525"/>
            <a:ext cx="0" cy="142875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D5C9AA-8F64-46F4-8566-FEF7C00B77F2}"/>
              </a:ext>
            </a:extLst>
          </p:cNvPr>
          <p:cNvSpPr>
            <a:spLocks noGrp="1"/>
          </p:cNvSpPr>
          <p:nvPr/>
        </p:nvSpPr>
        <p:spPr>
          <a:xfrm>
            <a:off x="4905375" y="1885950"/>
            <a:ext cx="2381250" cy="419100"/>
          </a:xfrm>
          <a:prstGeom prst="roundRect">
            <a:avLst>
              <a:gd name="adj" fmla="val 31818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D56550-9BCC-479D-9D7A-F41DC4B7619C}"/>
              </a:ext>
            </a:extLst>
          </p:cNvPr>
          <p:cNvSpPr>
            <a:spLocks noGrp="1"/>
          </p:cNvSpPr>
          <p:nvPr/>
        </p:nvSpPr>
        <p:spPr>
          <a:xfrm>
            <a:off x="4905375" y="2667000"/>
            <a:ext cx="2381250" cy="419100"/>
          </a:xfrm>
          <a:prstGeom prst="roundRect">
            <a:avLst>
              <a:gd name="adj" fmla="val 31818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Controller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FC3C0E-89D9-487C-A70C-361737D87510}"/>
              </a:ext>
            </a:extLst>
          </p:cNvPr>
          <p:cNvSpPr>
            <a:spLocks noGrp="1"/>
          </p:cNvSpPr>
          <p:nvPr/>
        </p:nvSpPr>
        <p:spPr>
          <a:xfrm>
            <a:off x="4572000" y="3448050"/>
            <a:ext cx="3048000" cy="419100"/>
          </a:xfrm>
          <a:prstGeom prst="roundRect">
            <a:avLst>
              <a:gd name="adj" fmla="val 31818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Try Local Model – Ollama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18B813-91D1-4A6D-84DE-BE9819F13C0B}"/>
              </a:ext>
            </a:extLst>
          </p:cNvPr>
          <p:cNvSpPr>
            <a:spLocks noGrp="1"/>
          </p:cNvSpPr>
          <p:nvPr/>
        </p:nvSpPr>
        <p:spPr>
          <a:xfrm>
            <a:off x="5095875" y="4229100"/>
            <a:ext cx="2000250" cy="400050"/>
          </a:xfrm>
          <a:prstGeom prst="roundRect">
            <a:avLst>
              <a:gd name="adj" fmla="val 33333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Success?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35779C-6E06-4748-BC09-E2735385A9F8}"/>
              </a:ext>
            </a:extLst>
          </p:cNvPr>
          <p:cNvSpPr>
            <a:spLocks noGrp="1"/>
          </p:cNvSpPr>
          <p:nvPr/>
        </p:nvSpPr>
        <p:spPr>
          <a:xfrm>
            <a:off x="4191000" y="506730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YES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94BCA0-4E0E-43F7-B308-F1EF29663A06}"/>
              </a:ext>
            </a:extLst>
          </p:cNvPr>
          <p:cNvSpPr>
            <a:spLocks noGrp="1"/>
          </p:cNvSpPr>
          <p:nvPr/>
        </p:nvSpPr>
        <p:spPr>
          <a:xfrm>
            <a:off x="6572250" y="506730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0A1B2E"/>
          </a:solidFill>
          <a:ln w="9525">
            <a:solidFill>
              <a:srgbClr val="FF8191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81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191"/>
                </a:solidFill>
                <a:latin typeface="Arial"/>
                <a:ea typeface="Arial"/>
                <a:cs typeface="Arial"/>
              </a:rPr>
              <a:t>NO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FF81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191"/>
                </a:solidFill>
                <a:latin typeface="Arial"/>
                <a:ea typeface="Arial"/>
                <a:cs typeface="Arial"/>
              </a:rPr>
              <a:t>NVIDIA NIM</a:t>
            </a:r>
          </a:p>
        </p:txBody>
      </p:sp>
      <p:cxnSp>
        <p:nvCxnSpPr>
          <p:cNvPr id="57" name="Straight Arrow Connector 56"/>
          <p:cNvCxnSpPr>
            <a:stCxn id="20" idx="2"/>
            <a:endCxn id="21" idx="0"/>
          </p:cNvCxnSpPr>
          <p:nvPr/>
        </p:nvCxnSpPr>
        <p:spPr>
          <a:xfrm>
            <a:off x="6096000" y="2305050"/>
            <a:ext cx="0" cy="36195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8" name="Straight Arrow Connector 57"/>
          <p:cNvCxnSpPr>
            <a:stCxn id="21" idx="2"/>
            <a:endCxn id="22" idx="0"/>
          </p:cNvCxnSpPr>
          <p:nvPr/>
        </p:nvCxnSpPr>
        <p:spPr>
          <a:xfrm>
            <a:off x="6096000" y="3086100"/>
            <a:ext cx="0" cy="36195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9" name="Straight Arrow Connector 58"/>
          <p:cNvCxnSpPr>
            <a:stCxn id="22" idx="2"/>
            <a:endCxn id="23" idx="0"/>
          </p:cNvCxnSpPr>
          <p:nvPr/>
        </p:nvCxnSpPr>
        <p:spPr>
          <a:xfrm>
            <a:off x="6096000" y="3867150"/>
            <a:ext cx="0" cy="36195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60" name="Connector: Elbow 59"/>
          <p:cNvCxnSpPr>
            <a:stCxn id="23" idx="2"/>
            <a:endCxn id="24" idx="0"/>
          </p:cNvCxnSpPr>
          <p:nvPr/>
        </p:nvCxnSpPr>
        <p:spPr>
          <a:xfrm flipH="1">
            <a:off x="4905375" y="4629150"/>
            <a:ext cx="1190625" cy="438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1" name="Connector: Elbow 60"/>
          <p:cNvCxnSpPr>
            <a:stCxn id="23" idx="2"/>
            <a:endCxn id="25" idx="0"/>
          </p:cNvCxnSpPr>
          <p:nvPr/>
        </p:nvCxnSpPr>
        <p:spPr>
          <a:xfrm>
            <a:off x="6096000" y="4629150"/>
            <a:ext cx="1190625" cy="438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F8191"/>
            </a:solidFill>
            <a:prstDash val="solid"/>
            <a:tailEnd type="triangle" w="sm" len="sm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0DF212A-C8E3-4C8A-AFC4-F693321ECF1E}"/>
              </a:ext>
            </a:extLst>
          </p:cNvPr>
          <p:cNvSpPr>
            <a:spLocks noGrp="1"/>
          </p:cNvSpPr>
          <p:nvPr/>
        </p:nvSpPr>
        <p:spPr>
          <a:xfrm>
            <a:off x="1619250" y="60007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9286"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Automatic failover is configuration-based. It operates when a fallback provider, valid credentials and AI_AUTO_FAILOVER are configured.</a:t>
            </a:r>
          </a:p>
        </p:txBody>
      </p:sp>
    </p:spTree>
    <p:extLst>
      <p:ext uri="{BB962C8B-B14F-4D97-AF65-F5344CB8AC3E}">
        <p14:creationId xmlns:p14="http://schemas.microsoft.com/office/powerpoint/2010/main" val="142326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408C5A5-131A-4F97-9754-79DC622FE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DA54AE-CCDE-4922-9344-81E6BD20628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WHAT THE SYSTEM DELIVERS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FA27F-310B-4E8F-B9CD-4D5A800FEC13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7. Expected Outcomes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E1CCAC8-30D9-4B24-8374-B19E0CB77F02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A906D64-CC8E-4D1B-AE3F-D38EBF0F02BB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D963D-5F2D-48E1-9E8F-2FD73093E1A3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78EA3-4901-478F-BDD5-FE6CA9A53B6D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38D38C-A71B-4AAF-86A4-FD6805C345CA}"/>
              </a:ext>
            </a:extLst>
          </p:cNvPr>
          <p:cNvSpPr>
            <a:spLocks noGrp="1"/>
          </p:cNvSpPr>
          <p:nvPr/>
        </p:nvSpPr>
        <p:spPr>
          <a:xfrm>
            <a:off x="1047750" y="1438275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644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Functional outcomes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425A1B-C691-408A-A44D-3067DB8281EF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92500"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 recognition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2D01AD-A0CC-4AA6-8143-4AE88C7945E5}"/>
              </a:ext>
            </a:extLst>
          </p:cNvPr>
          <p:cNvSpPr>
            <a:spLocks noGrp="1"/>
          </p:cNvSpPr>
          <p:nvPr/>
        </p:nvSpPr>
        <p:spPr>
          <a:xfrm>
            <a:off x="3257550" y="187642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88331" lnSpcReduction="10000"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Natural-language command routing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A31E6B-4BFF-41D8-89EA-2E231A5591BB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launching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8C2790-477B-41E4-A9E3-E51F9A2922BB}"/>
              </a:ext>
            </a:extLst>
          </p:cNvPr>
          <p:cNvSpPr>
            <a:spLocks noGrp="1"/>
          </p:cNvSpPr>
          <p:nvPr/>
        </p:nvSpPr>
        <p:spPr>
          <a:xfrm>
            <a:off x="3257550" y="254317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88331" lnSpcReduction="10000"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Web searching and browser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AA3BCF-5C70-4EB0-AA86-23FE2ADB2928}"/>
              </a:ext>
            </a:extLst>
          </p:cNvPr>
          <p:cNvSpPr>
            <a:spLocks noGrp="1"/>
          </p:cNvSpPr>
          <p:nvPr/>
        </p:nvSpPr>
        <p:spPr>
          <a:xfrm>
            <a:off x="876300" y="320992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 fontScale="96843" lnSpcReduction="10000"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/ system automation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257596-8EC0-4910-A2EA-ED8558F04AF4}"/>
              </a:ext>
            </a:extLst>
          </p:cNvPr>
          <p:cNvSpPr>
            <a:spLocks noGrp="1"/>
          </p:cNvSpPr>
          <p:nvPr/>
        </p:nvSpPr>
        <p:spPr>
          <a:xfrm>
            <a:off x="3257550" y="320992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File and folder operations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A8E0B6-8647-448C-AA17-D0A0F7752C6B}"/>
              </a:ext>
            </a:extLst>
          </p:cNvPr>
          <p:cNvSpPr>
            <a:spLocks noGrp="1"/>
          </p:cNvSpPr>
          <p:nvPr/>
        </p:nvSpPr>
        <p:spPr>
          <a:xfrm>
            <a:off x="876300" y="387667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Communication automation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027D9E-F555-4F44-8E84-ED21773B74D7}"/>
              </a:ext>
            </a:extLst>
          </p:cNvPr>
          <p:cNvSpPr>
            <a:spLocks noGrp="1"/>
          </p:cNvSpPr>
          <p:nvPr/>
        </p:nvSpPr>
        <p:spPr>
          <a:xfrm>
            <a:off x="3257550" y="3876675"/>
            <a:ext cx="2143125" cy="476250"/>
          </a:xfrm>
          <a:prstGeom prst="roundRect">
            <a:avLst>
              <a:gd name="adj" fmla="val 28000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Text and voice responses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615A03-8241-4682-859B-510879FE021F}"/>
              </a:ext>
            </a:extLst>
          </p:cNvPr>
          <p:cNvSpPr>
            <a:spLocks noGrp="1"/>
          </p:cNvSpPr>
          <p:nvPr/>
        </p:nvSpPr>
        <p:spPr>
          <a:xfrm>
            <a:off x="7286625" y="14382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644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AI outcomes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D59225-ECD6-4C2D-A1AB-139821F5A2E3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1809750" cy="704850"/>
          </a:xfrm>
          <a:prstGeom prst="roundRect">
            <a:avLst>
              <a:gd name="adj" fmla="val 18919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Ollama</a:t>
            </a: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Local AI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89D4D2-B3F1-4BAD-B789-CAFEC9C5FD1C}"/>
              </a:ext>
            </a:extLst>
          </p:cNvPr>
          <p:cNvSpPr>
            <a:spLocks noGrp="1"/>
          </p:cNvSpPr>
          <p:nvPr/>
        </p:nvSpPr>
        <p:spPr>
          <a:xfrm>
            <a:off x="9620250" y="1952625"/>
            <a:ext cx="1809750" cy="704850"/>
          </a:xfrm>
          <a:prstGeom prst="roundRect">
            <a:avLst>
              <a:gd name="adj" fmla="val 18919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NVIDIA NIM</a:t>
            </a: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capability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26235C-95FA-4B14-8225-5CE3E9639ACF}"/>
              </a:ext>
            </a:extLst>
          </p:cNvPr>
          <p:cNvSpPr>
            <a:spLocks noGrp="1"/>
          </p:cNvSpPr>
          <p:nvPr/>
        </p:nvSpPr>
        <p:spPr>
          <a:xfrm>
            <a:off x="8429625" y="3333750"/>
            <a:ext cx="1809750" cy="704850"/>
          </a:xfrm>
          <a:prstGeom prst="roundRect">
            <a:avLst>
              <a:gd name="adj" fmla="val 18919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 fontScale="90725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Configurable fallback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45" name="Connector: Elbow 44"/>
          <p:cNvCxnSpPr>
            <a:stCxn id="18" idx="2"/>
            <a:endCxn id="20" idx="0"/>
          </p:cNvCxnSpPr>
          <p:nvPr/>
        </p:nvCxnSpPr>
        <p:spPr>
          <a:xfrm>
            <a:off x="8143875" y="2657475"/>
            <a:ext cx="1190625" cy="676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46" name="Connector: Elbow 45"/>
          <p:cNvCxnSpPr>
            <a:stCxn id="19" idx="2"/>
            <a:endCxn id="20" idx="0"/>
          </p:cNvCxnSpPr>
          <p:nvPr/>
        </p:nvCxnSpPr>
        <p:spPr>
          <a:xfrm flipH="1">
            <a:off x="9334500" y="2657475"/>
            <a:ext cx="1190625" cy="676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59139E-9E17-478E-8919-4CAE71B6D354}"/>
              </a:ext>
            </a:extLst>
          </p:cNvPr>
          <p:cNvSpPr>
            <a:spLocks noGrp="1"/>
          </p:cNvSpPr>
          <p:nvPr/>
        </p:nvSpPr>
        <p:spPr>
          <a:xfrm>
            <a:off x="6810375" y="4743450"/>
            <a:ext cx="4286250" cy="723900"/>
          </a:xfrm>
          <a:prstGeom prst="roundRect">
            <a:avLst>
              <a:gd name="adj" fmla="val 18421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 fontScale="84622" lnSpcReduction="10000"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Result: a desktop assistant designed to understand a request, select a safe action and return a clear response.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F39E4F-E030-4D8B-8C1C-3BF80849AB5A}"/>
              </a:ext>
            </a:extLst>
          </p:cNvPr>
          <p:cNvSpPr>
            <a:spLocks noGrp="1"/>
          </p:cNvSpPr>
          <p:nvPr/>
        </p:nvSpPr>
        <p:spPr>
          <a:xfrm>
            <a:off x="2714625" y="5934075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156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Online services and optional AI features depend on the selected provider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675307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F2C02BA-D9CA-4B7C-A0EA-A1EFE5BB2B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468C86-C2FB-4912-9CEA-06C8AF697FB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DEVELOPMENT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BC085-76E7-4AE7-8DF8-AA1775DE11F2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8. Plan of Action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75E7A7-27AD-41E7-98BA-FA9F0D8AEDB3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5668151-FE45-43F9-8C16-8A2AD5CDA2DA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75A60-3900-4E37-830C-8EA52B4AE88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0E818-04A4-437F-B1A6-47EE5836BA84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2BB065-3C6D-4D18-A9BD-1A58D8DE39C8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644"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Roadmap from initial study to project demonstration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506775-763B-40D9-B4E3-5959E517E8FE}"/>
              </a:ext>
            </a:extLst>
          </p:cNvPr>
          <p:cNvSpPr>
            <a:spLocks noGrp="1"/>
          </p:cNvSpPr>
          <p:nvPr/>
        </p:nvSpPr>
        <p:spPr>
          <a:xfrm>
            <a:off x="6000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01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Requirement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5C0EE2-A346-40E7-AA8E-71DAA6F18443}"/>
              </a:ext>
            </a:extLst>
          </p:cNvPr>
          <p:cNvSpPr>
            <a:spLocks noGrp="1"/>
          </p:cNvSpPr>
          <p:nvPr/>
        </p:nvSpPr>
        <p:spPr>
          <a:xfrm>
            <a:off x="22002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02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Literature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47" name="Straight Arrow Connector 46"/>
          <p:cNvCxnSpPr>
            <a:stCxn id="9" idx="3"/>
            <a:endCxn id="10" idx="1"/>
          </p:cNvCxnSpPr>
          <p:nvPr/>
        </p:nvCxnSpPr>
        <p:spPr>
          <a:xfrm>
            <a:off x="19335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AA1DCD-F607-4C85-9131-D43A19568505}"/>
              </a:ext>
            </a:extLst>
          </p:cNvPr>
          <p:cNvSpPr>
            <a:spLocks noGrp="1"/>
          </p:cNvSpPr>
          <p:nvPr/>
        </p:nvSpPr>
        <p:spPr>
          <a:xfrm>
            <a:off x="38004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03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System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49" name="Straight Arrow Connector 48"/>
          <p:cNvCxnSpPr>
            <a:stCxn id="10" idx="3"/>
            <a:endCxn id="12" idx="1"/>
          </p:cNvCxnSpPr>
          <p:nvPr/>
        </p:nvCxnSpPr>
        <p:spPr>
          <a:xfrm>
            <a:off x="35337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DF5346B-56E0-4C8A-9F0D-FB38FDCDB5A0}"/>
              </a:ext>
            </a:extLst>
          </p:cNvPr>
          <p:cNvSpPr>
            <a:spLocks noGrp="1"/>
          </p:cNvSpPr>
          <p:nvPr/>
        </p:nvSpPr>
        <p:spPr>
          <a:xfrm>
            <a:off x="54006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04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cxnSp>
        <p:nvCxnSpPr>
          <p:cNvPr id="51" name="Straight Arrow Connector 50"/>
          <p:cNvCxnSpPr>
            <a:stCxn id="12" idx="3"/>
            <a:endCxn id="14" idx="1"/>
          </p:cNvCxnSpPr>
          <p:nvPr/>
        </p:nvCxnSpPr>
        <p:spPr>
          <a:xfrm>
            <a:off x="51339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9D18EC5-D997-4981-A41D-A8ABC22E47B8}"/>
              </a:ext>
            </a:extLst>
          </p:cNvPr>
          <p:cNvSpPr>
            <a:spLocks noGrp="1"/>
          </p:cNvSpPr>
          <p:nvPr/>
        </p:nvSpPr>
        <p:spPr>
          <a:xfrm>
            <a:off x="70008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05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3" name="Straight Arrow Connector 52"/>
          <p:cNvCxnSpPr>
            <a:stCxn id="14" idx="3"/>
            <a:endCxn id="16" idx="1"/>
          </p:cNvCxnSpPr>
          <p:nvPr/>
        </p:nvCxnSpPr>
        <p:spPr>
          <a:xfrm>
            <a:off x="67341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FBAA50-DBAA-4256-A676-F957CDE9EAA0}"/>
              </a:ext>
            </a:extLst>
          </p:cNvPr>
          <p:cNvSpPr>
            <a:spLocks noGrp="1"/>
          </p:cNvSpPr>
          <p:nvPr/>
        </p:nvSpPr>
        <p:spPr>
          <a:xfrm>
            <a:off x="86010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06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Ollama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5" name="Straight Arrow Connector 54"/>
          <p:cNvCxnSpPr>
            <a:stCxn id="16" idx="3"/>
            <a:endCxn id="18" idx="1"/>
          </p:cNvCxnSpPr>
          <p:nvPr/>
        </p:nvCxnSpPr>
        <p:spPr>
          <a:xfrm>
            <a:off x="83343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E2F2A4-63B4-488C-92B1-07B2196BAB6D}"/>
              </a:ext>
            </a:extLst>
          </p:cNvPr>
          <p:cNvSpPr>
            <a:spLocks noGrp="1"/>
          </p:cNvSpPr>
          <p:nvPr/>
        </p:nvSpPr>
        <p:spPr>
          <a:xfrm>
            <a:off x="10201275" y="219075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07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NVIDIA NIM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7" name="Straight Arrow Connector 56"/>
          <p:cNvCxnSpPr>
            <a:stCxn id="18" idx="3"/>
            <a:endCxn id="20" idx="1"/>
          </p:cNvCxnSpPr>
          <p:nvPr/>
        </p:nvCxnSpPr>
        <p:spPr>
          <a:xfrm>
            <a:off x="9934575" y="258127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69A2DD-E006-4D22-9ABA-2E59EA01E1CD}"/>
              </a:ext>
            </a:extLst>
          </p:cNvPr>
          <p:cNvSpPr>
            <a:spLocks noGrp="1"/>
          </p:cNvSpPr>
          <p:nvPr/>
        </p:nvSpPr>
        <p:spPr>
          <a:xfrm>
            <a:off x="6000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08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862214-7633-4A54-AFFD-F3E756C63BF5}"/>
              </a:ext>
            </a:extLst>
          </p:cNvPr>
          <p:cNvSpPr>
            <a:spLocks noGrp="1"/>
          </p:cNvSpPr>
          <p:nvPr/>
        </p:nvSpPr>
        <p:spPr>
          <a:xfrm>
            <a:off x="22002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09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Browser / App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60" name="Straight Arrow Connector 59"/>
          <p:cNvCxnSpPr>
            <a:stCxn id="22" idx="3"/>
            <a:endCxn id="23" idx="1"/>
          </p:cNvCxnSpPr>
          <p:nvPr/>
        </p:nvCxnSpPr>
        <p:spPr>
          <a:xfrm>
            <a:off x="19335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B14D25-AC0F-4AB2-ABEC-C7079859FFF8}"/>
              </a:ext>
            </a:extLst>
          </p:cNvPr>
          <p:cNvSpPr>
            <a:spLocks noGrp="1"/>
          </p:cNvSpPr>
          <p:nvPr/>
        </p:nvSpPr>
        <p:spPr>
          <a:xfrm>
            <a:off x="38004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10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GUI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cxnSp>
        <p:nvCxnSpPr>
          <p:cNvPr id="62" name="Straight Arrow Connector 61"/>
          <p:cNvCxnSpPr>
            <a:stCxn id="23" idx="3"/>
            <a:endCxn id="25" idx="1"/>
          </p:cNvCxnSpPr>
          <p:nvPr/>
        </p:nvCxnSpPr>
        <p:spPr>
          <a:xfrm>
            <a:off x="35337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394325-781B-45B6-8742-6C429F6B9A7D}"/>
              </a:ext>
            </a:extLst>
          </p:cNvPr>
          <p:cNvSpPr>
            <a:spLocks noGrp="1"/>
          </p:cNvSpPr>
          <p:nvPr/>
        </p:nvSpPr>
        <p:spPr>
          <a:xfrm>
            <a:off x="54006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11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Testing &amp;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Debugging</a:t>
            </a:r>
          </a:p>
        </p:txBody>
      </p:sp>
      <p:cxnSp>
        <p:nvCxnSpPr>
          <p:cNvPr id="64" name="Straight Arrow Connector 63"/>
          <p:cNvCxnSpPr>
            <a:stCxn id="25" idx="3"/>
            <a:endCxn id="27" idx="1"/>
          </p:cNvCxnSpPr>
          <p:nvPr/>
        </p:nvCxnSpPr>
        <p:spPr>
          <a:xfrm>
            <a:off x="51339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A4A88DE-CB17-405A-A8D0-BEDD4E654D2F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12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Final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66" name="Straight Arrow Connector 65"/>
          <p:cNvCxnSpPr>
            <a:stCxn id="27" idx="3"/>
            <a:endCxn id="29" idx="1"/>
          </p:cNvCxnSpPr>
          <p:nvPr/>
        </p:nvCxnSpPr>
        <p:spPr>
          <a:xfrm>
            <a:off x="67341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BF1F1CD-5B2F-49F0-84CB-8C7A6679FBF2}"/>
              </a:ext>
            </a:extLst>
          </p:cNvPr>
          <p:cNvSpPr>
            <a:spLocks noGrp="1"/>
          </p:cNvSpPr>
          <p:nvPr/>
        </p:nvSpPr>
        <p:spPr>
          <a:xfrm>
            <a:off x="86010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13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cxnSp>
        <p:nvCxnSpPr>
          <p:cNvPr id="68" name="Straight Arrow Connector 67"/>
          <p:cNvCxnSpPr>
            <a:stCxn id="29" idx="3"/>
            <a:endCxn id="31" idx="1"/>
          </p:cNvCxnSpPr>
          <p:nvPr/>
        </p:nvCxnSpPr>
        <p:spPr>
          <a:xfrm>
            <a:off x="83343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B3B112-2FE0-47FB-AE41-656624B4FFEF}"/>
              </a:ext>
            </a:extLst>
          </p:cNvPr>
          <p:cNvSpPr>
            <a:spLocks noGrp="1"/>
          </p:cNvSpPr>
          <p:nvPr/>
        </p:nvSpPr>
        <p:spPr>
          <a:xfrm>
            <a:off x="10201275" y="4000500"/>
            <a:ext cx="13335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14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Final</a:t>
            </a:r>
          </a:p>
          <a:p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cxnSp>
        <p:nvCxnSpPr>
          <p:cNvPr id="70" name="Straight Arrow Connector 69"/>
          <p:cNvCxnSpPr>
            <a:stCxn id="31" idx="3"/>
            <a:endCxn id="33" idx="1"/>
          </p:cNvCxnSpPr>
          <p:nvPr/>
        </p:nvCxnSpPr>
        <p:spPr>
          <a:xfrm>
            <a:off x="9934575" y="4391025"/>
            <a:ext cx="266700" cy="0"/>
          </a:xfrm>
          <a:prstGeom prst="straightConnector1">
            <a:avLst/>
          </a:prstGeom>
          <a:ln w="19050">
            <a:solidFill>
              <a:srgbClr val="1C4664"/>
            </a:solidFill>
            <a:prstDash val="solid"/>
            <a:tailEnd type="triangle" w="sm" len="sm"/>
          </a:ln>
        </p:spPr>
      </p:cxnSp>
      <p:cxnSp>
        <p:nvCxnSpPr>
          <p:cNvPr id="71" name="Connector: Elbow 70"/>
          <p:cNvCxnSpPr>
            <a:stCxn id="20" idx="2"/>
            <a:endCxn id="22" idx="0"/>
          </p:cNvCxnSpPr>
          <p:nvPr/>
        </p:nvCxnSpPr>
        <p:spPr>
          <a:xfrm flipH="1">
            <a:off x="1266825" y="2971800"/>
            <a:ext cx="9601200" cy="1028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C72E694-0BD4-4786-BA42-C04716BEB770}"/>
              </a:ext>
            </a:extLst>
          </p:cNvPr>
          <p:cNvSpPr>
            <a:spLocks noGrp="1"/>
          </p:cNvSpPr>
          <p:nvPr/>
        </p:nvSpPr>
        <p:spPr>
          <a:xfrm>
            <a:off x="1428750" y="54102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Each phase produces evidence for the next phase: design decisions, modules, integration results, tests, documentation and a live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83121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F2B53A-783E-48CA-8820-9C0EC7B7D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E1F333-CFE7-4B99-BD94-4DF99C8F956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 AND SOFTWARE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08B72-523E-4194-BD7E-9E5AABE8316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9. List of Components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15E9FC-CE36-4A2D-B36D-B9912978EB6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6D315AA-AF7C-4D37-A60A-E6A67C9FFDCC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96AF0-56C1-422B-82AD-2B581FECFF80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A5E70-5202-4E5D-B523-E7F1B982205D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7EF948-5F62-435B-BE39-260FA0D3EB5D}"/>
              </a:ext>
            </a:extLst>
          </p:cNvPr>
          <p:cNvSpPr>
            <a:spLocks noGrp="1"/>
          </p:cNvSpPr>
          <p:nvPr/>
        </p:nvSpPr>
        <p:spPr>
          <a:xfrm>
            <a:off x="790575" y="143827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8F5515-7C8D-4399-B94B-6DE5E4F42538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4286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Laptop or desktop computer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Microphone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Speakers or headphones</a:t>
            </a:r>
          </a:p>
          <a:p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Internet connection where online services are used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889FE-8D15-43A2-BD15-D1520BAC0E65}"/>
              </a:ext>
            </a:extLst>
          </p:cNvPr>
          <p:cNvSpPr>
            <a:spLocks noGrp="1"/>
          </p:cNvSpPr>
          <p:nvPr/>
        </p:nvSpPr>
        <p:spPr>
          <a:xfrm>
            <a:off x="6267450" y="143827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17432-3EF9-47D7-A1B2-C4DBFBB8C2F8}"/>
              </a:ext>
            </a:extLst>
          </p:cNvPr>
          <p:cNvSpPr>
            <a:spLocks noGrp="1"/>
          </p:cNvSpPr>
          <p:nvPr/>
        </p:nvSpPr>
        <p:spPr>
          <a:xfrm>
            <a:off x="6191250" y="1876425"/>
            <a:ext cx="504825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28575" rIns="28575" bIns="28575">
            <a:normAutofit/>
          </a:bodyPr>
          <a:lstStyle/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Python with standard-library modules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SpeechRecognition 3.17.0 and PyAudio 0.2.14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Optional psutil for live system metrics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HTML, CSS and JavaScript web HUD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Windows PowerShell / ctypes for PC-control functions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Ollama local LLM and NVIDIA NIM API support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.env configuration and JSON local storage</a:t>
            </a:r>
          </a:p>
          <a:p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Native text-to-speech and configured browser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5BF017-0289-420F-A26C-4BB3BB5A709C}"/>
              </a:ext>
            </a:extLst>
          </p:cNvPr>
          <p:cNvSpPr>
            <a:spLocks noGrp="1"/>
          </p:cNvSpPr>
          <p:nvPr/>
        </p:nvSpPr>
        <p:spPr>
          <a:xfrm>
            <a:off x="1524000" y="5572125"/>
            <a:ext cx="9144000" cy="514350"/>
          </a:xfrm>
          <a:prstGeom prst="roundRect">
            <a:avLst>
              <a:gd name="adj" fmla="val 25926"/>
            </a:avLst>
          </a:prstGeom>
          <a:solidFill>
            <a:srgbClr val="0C2239"/>
          </a:solidFill>
          <a:ln w="9525">
            <a:solidFill>
              <a:srgbClr val="1C4664"/>
            </a:solidFill>
            <a:prstDash val="solid"/>
          </a:ln>
        </p:spPr>
        <p:txBody>
          <a:bodyPr lIns="76200" tIns="47625" rIns="76200" bIns="47625" anchor="ctr">
            <a:normAutofit fontScale="86192" lnSpcReduction="20000"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Component choice follows a modular design: new skills and providers can be added without rebuilding the entire assistant.</a:t>
            </a:r>
          </a:p>
        </p:txBody>
      </p:sp>
    </p:spTree>
    <p:extLst>
      <p:ext uri="{BB962C8B-B14F-4D97-AF65-F5344CB8AC3E}">
        <p14:creationId xmlns:p14="http://schemas.microsoft.com/office/powerpoint/2010/main" val="56303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0B0B73-5C5C-47EA-A7E1-C3916283D5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8DDFDE-C77F-4188-9EF4-B926BD53061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DEPLOYMENT REQUIREMENTS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2EAEB-6F69-4F7A-B534-4BC47B3DAA25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System Requirements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3308B4A-EC21-4032-B08C-1B8785E3480F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4700A8B-C4D0-4A9E-BEA2-720D1FDF4184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A3A2E-D415-4052-A34A-73FF5980281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C1109C-DAC3-4685-B50E-14C18DADD44C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C8A07-F670-459B-8399-7EB015BBFFD6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644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 requirements</a:t>
            </a:r>
          </a:p>
        </p:txBody>
      </p:sp>
      <p:graphicFrame>
        <p:nvGraphicFramePr>
          <p:cNvPr id="21" name="Table 20"/>
          <p:cNvGraphicFramePr/>
          <p:nvPr/>
        </p:nvGraphicFramePr>
        <p:xfrm>
          <a:off x="666750" y="1809750"/>
          <a:ext cx="4953000" cy="3317559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Processor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64-bit processor; local-model capacity depends on the selected Ollama model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No fixed minimum in the project; select RAM according to local-model size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Application files plus local-model storage where Ollama is used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Audio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Microphone for voice input; speakers/headphones for voice output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Network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Internet required for cloud AI and online services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E4B517D-6836-40F6-AFAD-A2F36BB04B03}"/>
              </a:ext>
            </a:extLst>
          </p:cNvPr>
          <p:cNvSpPr>
            <a:spLocks noGrp="1"/>
          </p:cNvSpPr>
          <p:nvPr/>
        </p:nvSpPr>
        <p:spPr>
          <a:xfrm>
            <a:off x="6581775" y="1438275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644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Software requirements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6477000" y="1809750"/>
          <a:ext cx="4953000" cy="3381378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0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Operating system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Windows for the full PC-control feature set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 3.x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Packages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SpeechRecognition 3.17.0; PyAudio 0.2.14; psutil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Local AI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Ollama plus a selected downloaded model, if enabled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Cloud AI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NVIDIA NIM API key, if enabled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Browser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Configured/default browser for web actions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8BF5859-E546-4EB3-87EE-FDEE94558036}"/>
              </a:ext>
            </a:extLst>
          </p:cNvPr>
          <p:cNvSpPr>
            <a:spLocks noGrp="1"/>
          </p:cNvSpPr>
          <p:nvPr/>
        </p:nvSpPr>
        <p:spPr>
          <a:xfrm>
            <a:off x="1809750" y="57435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534" lnSpcReduction="20000"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Optional features require their own configuration and compatible hardware or services.</a:t>
            </a:r>
          </a:p>
        </p:txBody>
      </p:sp>
    </p:spTree>
    <p:extLst>
      <p:ext uri="{BB962C8B-B14F-4D97-AF65-F5344CB8AC3E}">
        <p14:creationId xmlns:p14="http://schemas.microsoft.com/office/powerpoint/2010/main" val="138798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E526BBA-192C-45E8-8F4D-FD68C664D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A03F17-9B80-4DA4-8401-61FFBEE9D77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COST ESTIMATE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B2382-5B0C-47AD-8BEE-22F80E9FAB5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10. Project Expenditure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3D6307-0313-4E8F-88FA-4E0BAF4AF426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93DBCD7-DB40-4FD1-B771-CEE3FF4B15C9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5E4FB-FCCA-4186-A668-D53C72ED2164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42928-B39D-49B6-8F52-114E72DD7BF5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EA295-CA2E-4D03-848E-D2DA5DC1FDA0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4802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Use actual values in the ‘To be filled’ rows before final submission.</a:t>
            </a:r>
          </a:p>
        </p:txBody>
      </p:sp>
      <p:graphicFrame>
        <p:nvGraphicFramePr>
          <p:cNvPr id="19" name="Table 18"/>
          <p:cNvGraphicFramePr/>
          <p:nvPr/>
        </p:nvGraphicFramePr>
        <p:xfrm>
          <a:off x="1809750" y="1809750"/>
          <a:ext cx="8572500" cy="3714755"/>
        </p:xfrm>
        <a:graphic>
          <a:graphicData uri="http://schemas.openxmlformats.org/drawingml/2006/table">
            <a:tbl>
              <a:tblPr firstRow="1" lastRow="1" bandRow="1"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0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Approximate Cost</a:t>
                      </a:r>
                    </a:p>
                  </a:txBody>
                  <a:tcPr>
                    <a:solidFill>
                      <a:srgbClr val="0C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Laptop / PC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Existing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Microphone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Internet / Data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Software / open-source libraries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Ollama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Development tools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NVIDIA NIM API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Optional; usage-based if enabled</a:t>
                      </a:r>
                    </a:p>
                  </a:txBody>
                  <a:tcPr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Miscellaneous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0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3FA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>
                    <a:solidFill>
                      <a:srgbClr val="1135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3FAFF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>
                    <a:solidFill>
                      <a:srgbClr val="11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E3B03F3-EC54-4C40-A7D4-4E7F2083FFF7}"/>
              </a:ext>
            </a:extLst>
          </p:cNvPr>
          <p:cNvSpPr>
            <a:spLocks noGrp="1"/>
          </p:cNvSpPr>
          <p:nvPr/>
        </p:nvSpPr>
        <p:spPr>
          <a:xfrm>
            <a:off x="2238375" y="5838825"/>
            <a:ext cx="771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9286"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The deck preserves unknown costs as placeholders instead of inventing expenses.</a:t>
            </a:r>
          </a:p>
        </p:txBody>
      </p:sp>
    </p:spTree>
    <p:extLst>
      <p:ext uri="{BB962C8B-B14F-4D97-AF65-F5344CB8AC3E}">
        <p14:creationId xmlns:p14="http://schemas.microsoft.com/office/powerpoint/2010/main" val="54889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F63BBCC-44E0-4CBC-A939-F4ACF2E2F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48E17F-7ECA-417F-B066-A8FA688DA82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BENEFITS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B4233-45EF-4581-B3AA-A90CF4B1A7D9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CB5921D-9579-4AEA-A0D3-F3275A7C7BA7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05A0E86-CF3F-4F59-A0A1-61095093D7AA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4A439B-75BE-43EC-9E21-D6486D9994B6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5F081-1B23-40AE-B4A0-62F37A3FABB4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132F39-8A2D-4C29-9913-32331F1B2273}"/>
              </a:ext>
            </a:extLst>
          </p:cNvPr>
          <p:cNvSpPr>
            <a:spLocks noGrp="1"/>
          </p:cNvSpPr>
          <p:nvPr/>
        </p:nvSpPr>
        <p:spPr>
          <a:xfrm>
            <a:off x="1066800" y="15716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 voice interaction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E5A70C-994A-4D99-AC8A-894D5F94715E}"/>
              </a:ext>
            </a:extLst>
          </p:cNvPr>
          <p:cNvSpPr>
            <a:spLocks noGrp="1"/>
          </p:cNvSpPr>
          <p:nvPr/>
        </p:nvSpPr>
        <p:spPr>
          <a:xfrm>
            <a:off x="6210300" y="15716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Hands-free computer interaction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E0B49-0048-4152-8641-582C0F38471D}"/>
              </a:ext>
            </a:extLst>
          </p:cNvPr>
          <p:cNvSpPr>
            <a:spLocks noGrp="1"/>
          </p:cNvSpPr>
          <p:nvPr/>
        </p:nvSpPr>
        <p:spPr>
          <a:xfrm>
            <a:off x="1066800" y="23717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Automation of repetitive tasks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835F92-F0D3-4163-98E7-983397CB0049}"/>
              </a:ext>
            </a:extLst>
          </p:cNvPr>
          <p:cNvSpPr>
            <a:spLocks noGrp="1"/>
          </p:cNvSpPr>
          <p:nvPr/>
        </p:nvSpPr>
        <p:spPr>
          <a:xfrm>
            <a:off x="6210300" y="23717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AI-powered reasoning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BEA7C0-4F22-4621-BB0A-566CE7D3C5C9}"/>
              </a:ext>
            </a:extLst>
          </p:cNvPr>
          <p:cNvSpPr>
            <a:spLocks noGrp="1"/>
          </p:cNvSpPr>
          <p:nvPr/>
        </p:nvSpPr>
        <p:spPr>
          <a:xfrm>
            <a:off x="1066800" y="31718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AI capability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694343-AABE-4628-97F3-7F8C310147FA}"/>
              </a:ext>
            </a:extLst>
          </p:cNvPr>
          <p:cNvSpPr>
            <a:spLocks noGrp="1"/>
          </p:cNvSpPr>
          <p:nvPr/>
        </p:nvSpPr>
        <p:spPr>
          <a:xfrm>
            <a:off x="6210300" y="31718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Extensible architecture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5DE091-5526-4306-9564-EFBC27970592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Faster task execution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91010E-5AA6-4E19-B7D3-7F421892A9C8}"/>
              </a:ext>
            </a:extLst>
          </p:cNvPr>
          <p:cNvSpPr>
            <a:spLocks noGrp="1"/>
          </p:cNvSpPr>
          <p:nvPr/>
        </p:nvSpPr>
        <p:spPr>
          <a:xfrm>
            <a:off x="6210300" y="39719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Multiple application integration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E972FA-7207-462A-A86E-2610DB17A0B1}"/>
              </a:ext>
            </a:extLst>
          </p:cNvPr>
          <p:cNvSpPr>
            <a:spLocks noGrp="1"/>
          </p:cNvSpPr>
          <p:nvPr/>
        </p:nvSpPr>
        <p:spPr>
          <a:xfrm>
            <a:off x="1066800" y="47720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Multi-step command support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3810E2-9131-4C2F-84FB-B579E4C9FD23}"/>
              </a:ext>
            </a:extLst>
          </p:cNvPr>
          <p:cNvSpPr>
            <a:spLocks noGrp="1"/>
          </p:cNvSpPr>
          <p:nvPr/>
        </p:nvSpPr>
        <p:spPr>
          <a:xfrm>
            <a:off x="6210300" y="4772025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Reduced manual operations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A5208-69C3-47E7-B34A-44A8121DB98F}"/>
              </a:ext>
            </a:extLst>
          </p:cNvPr>
          <p:cNvSpPr>
            <a:spLocks noGrp="1"/>
          </p:cNvSpPr>
          <p:nvPr/>
        </p:nvSpPr>
        <p:spPr>
          <a:xfrm>
            <a:off x="1828800" y="5876925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683" lnSpcReduction="10000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The system’s modular structure also supports future skills, providers and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044812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C98F34-29FA-4F50-93F1-2662D7B9B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0A868-249D-4DD1-A3A0-D1C4B28A0F5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CURRENT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5831F-C925-414C-8380-0B0B0C531D83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ADC10B7-01FE-47B6-99E0-653FFF447495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610F3B6-AEC7-432A-9A3E-1E0EA5230D97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80686-8E5C-4679-BB76-406AD13D8A6D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B08E6-43D6-4FEC-945F-0A4388A01C6F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0A2894-EF08-41A0-AF1F-6CBE90268EA4}"/>
              </a:ext>
            </a:extLst>
          </p:cNvPr>
          <p:cNvSpPr>
            <a:spLocks noGrp="1"/>
          </p:cNvSpPr>
          <p:nvPr/>
        </p:nvSpPr>
        <p:spPr>
          <a:xfrm>
            <a:off x="742950" y="1638300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E8FE1B-C942-4A64-9441-10A4E3E10E40}"/>
              </a:ext>
            </a:extLst>
          </p:cNvPr>
          <p:cNvSpPr>
            <a:spLocks noGrp="1"/>
          </p:cNvSpPr>
          <p:nvPr/>
        </p:nvSpPr>
        <p:spPr>
          <a:xfrm>
            <a:off x="933450" y="178117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45EF0-D4AA-4D2B-BB1C-62B2F16419B2}"/>
              </a:ext>
            </a:extLst>
          </p:cNvPr>
          <p:cNvSpPr>
            <a:spLocks noGrp="1"/>
          </p:cNvSpPr>
          <p:nvPr/>
        </p:nvSpPr>
        <p:spPr>
          <a:xfrm>
            <a:off x="933450" y="208597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259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Background noise and microphone quality can affect speech recognition.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804494-FA70-43BF-9649-73C8B70F0E90}"/>
              </a:ext>
            </a:extLst>
          </p:cNvPr>
          <p:cNvSpPr>
            <a:spLocks noGrp="1"/>
          </p:cNvSpPr>
          <p:nvPr/>
        </p:nvSpPr>
        <p:spPr>
          <a:xfrm>
            <a:off x="6267450" y="1638300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F4C66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23EB8-150D-43B7-A6F3-335FCB9E9DF8}"/>
              </a:ext>
            </a:extLst>
          </p:cNvPr>
          <p:cNvSpPr>
            <a:spLocks noGrp="1"/>
          </p:cNvSpPr>
          <p:nvPr/>
        </p:nvSpPr>
        <p:spPr>
          <a:xfrm>
            <a:off x="6457950" y="178117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C5B937-598C-446B-B0E7-ADFA23F511D3}"/>
              </a:ext>
            </a:extLst>
          </p:cNvPr>
          <p:cNvSpPr>
            <a:spLocks noGrp="1"/>
          </p:cNvSpPr>
          <p:nvPr/>
        </p:nvSpPr>
        <p:spPr>
          <a:xfrm>
            <a:off x="6457950" y="208597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9286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Some actions depend on application interfaces, window focus and permissions.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38A53E-2C5F-417C-92C2-3C7F9A9FB659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FF819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2EF035-9FA5-48A0-881D-7075E95F8C45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C56A37-C8C4-4DC1-B946-BA25AD4862A8}"/>
              </a:ext>
            </a:extLst>
          </p:cNvPr>
          <p:cNvSpPr>
            <a:spLocks noGrp="1"/>
          </p:cNvSpPr>
          <p:nvPr/>
        </p:nvSpPr>
        <p:spPr>
          <a:xfrm>
            <a:off x="933450" y="33718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Internet access is required for cloud AI and online services.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872ADD-75FA-49CD-BC8D-A99C3ED02BD6}"/>
              </a:ext>
            </a:extLst>
          </p:cNvPr>
          <p:cNvSpPr>
            <a:spLocks noGrp="1"/>
          </p:cNvSpPr>
          <p:nvPr/>
        </p:nvSpPr>
        <p:spPr>
          <a:xfrm>
            <a:off x="6267450" y="2924175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FF819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93338B-132B-456A-92B4-59C84278A32A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AI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2FC3FB-1CAC-4005-BBE1-18A361D76FAD}"/>
              </a:ext>
            </a:extLst>
          </p:cNvPr>
          <p:cNvSpPr>
            <a:spLocks noGrp="1"/>
          </p:cNvSpPr>
          <p:nvPr/>
        </p:nvSpPr>
        <p:spPr>
          <a:xfrm>
            <a:off x="6457950" y="33718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AI responses can sometimes be incorrect or incomplete.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22C780-FD37-411B-8DA0-C6F36DBF95AF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E06A48-168B-4195-AC45-4F00ED3F04FA}"/>
              </a:ext>
            </a:extLst>
          </p:cNvPr>
          <p:cNvSpPr>
            <a:spLocks noGrp="1"/>
          </p:cNvSpPr>
          <p:nvPr/>
        </p:nvSpPr>
        <p:spPr>
          <a:xfrm>
            <a:off x="933450" y="435292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3201B5-6C0C-4534-A337-4A91D17911ED}"/>
              </a:ext>
            </a:extLst>
          </p:cNvPr>
          <p:cNvSpPr>
            <a:spLocks noGrp="1"/>
          </p:cNvSpPr>
          <p:nvPr/>
        </p:nvSpPr>
        <p:spPr>
          <a:xfrm>
            <a:off x="933450" y="465772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9003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Performance depends on local hardware and selected AI model size.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356896-0BD0-40F8-B3D5-28203E0CA514}"/>
              </a:ext>
            </a:extLst>
          </p:cNvPr>
          <p:cNvSpPr>
            <a:spLocks noGrp="1"/>
          </p:cNvSpPr>
          <p:nvPr/>
        </p:nvSpPr>
        <p:spPr>
          <a:xfrm>
            <a:off x="6267450" y="4210050"/>
            <a:ext cx="5048250" cy="981075"/>
          </a:xfrm>
          <a:prstGeom prst="roundRect">
            <a:avLst>
              <a:gd name="adj" fmla="val 13592"/>
            </a:avLst>
          </a:prstGeom>
          <a:solidFill>
            <a:srgbClr val="0A1B2E"/>
          </a:solidFill>
          <a:ln w="9525">
            <a:solidFill>
              <a:srgbClr val="8B6CF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2BD745-4AB2-4069-8C9A-ACC52A5D9E4F}"/>
              </a:ext>
            </a:extLst>
          </p:cNvPr>
          <p:cNvSpPr>
            <a:spLocks noGrp="1"/>
          </p:cNvSpPr>
          <p:nvPr/>
        </p:nvSpPr>
        <p:spPr>
          <a:xfrm>
            <a:off x="6457950" y="435292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Application changes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B3AE3B-3EA2-4172-8AC0-52290E3CC449}"/>
              </a:ext>
            </a:extLst>
          </p:cNvPr>
          <p:cNvSpPr>
            <a:spLocks noGrp="1"/>
          </p:cNvSpPr>
          <p:nvPr/>
        </p:nvSpPr>
        <p:spPr>
          <a:xfrm>
            <a:off x="6457950" y="465772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UI updates can affect keyboard- and screen-based automation.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D9F6515-75E0-4C37-9ED8-10444DAB99D4}"/>
              </a:ext>
            </a:extLst>
          </p:cNvPr>
          <p:cNvSpPr>
            <a:spLocks noGrp="1"/>
          </p:cNvSpPr>
          <p:nvPr/>
        </p:nvSpPr>
        <p:spPr>
          <a:xfrm>
            <a:off x="1524000" y="5734050"/>
            <a:ext cx="9144000" cy="457200"/>
          </a:xfrm>
          <a:prstGeom prst="roundRect">
            <a:avLst>
              <a:gd name="adj" fmla="val 29167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Responsible use: maintain confirmations for sensitive actions and verify outcomes before treating a task as complete.</a:t>
            </a:r>
          </a:p>
        </p:txBody>
      </p:sp>
    </p:spTree>
    <p:extLst>
      <p:ext uri="{BB962C8B-B14F-4D97-AF65-F5344CB8AC3E}">
        <p14:creationId xmlns:p14="http://schemas.microsoft.com/office/powerpoint/2010/main" val="1635684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A32125C-38B3-4A4B-AD2C-8472BF38BF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FAFE6-29BC-4FA6-86BF-02B5DE61E4A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POSSIBLE ENHANCEMENTS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6F878-9ECE-4295-B6B6-AD2E665D5978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F866A25-B45E-4452-A7B5-A92B0A7B1398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0B0F9B4-4F5A-4C19-9C8C-F602DE9659D2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9BBE1A-7691-4BE1-82D6-9FA2650AFACC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4803F-2E78-4651-BE36-A4C708D10F36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2BAD01-CB45-49BA-9FA1-BFA1D72BD21B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Multi-agent architecture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A1377D-3414-41C0-95E2-4E012B44FEEC}"/>
              </a:ext>
            </a:extLst>
          </p:cNvPr>
          <p:cNvSpPr>
            <a:spLocks noGrp="1"/>
          </p:cNvSpPr>
          <p:nvPr/>
        </p:nvSpPr>
        <p:spPr>
          <a:xfrm>
            <a:off x="6210300" y="16192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Long-term context and memory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932FC8-4F4A-4B61-BD9F-86DD23B6BC6F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More operating-system support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B2C7D7-B8C9-435C-BC57-38427B736789}"/>
              </a:ext>
            </a:extLst>
          </p:cNvPr>
          <p:cNvSpPr>
            <a:spLocks noGrp="1"/>
          </p:cNvSpPr>
          <p:nvPr/>
        </p:nvSpPr>
        <p:spPr>
          <a:xfrm>
            <a:off x="6210300" y="24193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Additional application integrations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9187C5-F085-4CAC-8540-37AC2F93CA19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Improved offline capabilities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C52D14-C19E-4817-999F-E533CBCB4AAF}"/>
              </a:ext>
            </a:extLst>
          </p:cNvPr>
          <p:cNvSpPr>
            <a:spLocks noGrp="1"/>
          </p:cNvSpPr>
          <p:nvPr/>
        </p:nvSpPr>
        <p:spPr>
          <a:xfrm>
            <a:off x="6210300" y="32194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Computer vision and screen understanding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A4B91C-AE76-4FF9-AE43-30F3FB3E0180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Autonomous task planning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43F099-D9E1-493C-A35D-8EA8D45736CE}"/>
              </a:ext>
            </a:extLst>
          </p:cNvPr>
          <p:cNvSpPr>
            <a:spLocks noGrp="1"/>
          </p:cNvSpPr>
          <p:nvPr/>
        </p:nvSpPr>
        <p:spPr>
          <a:xfrm>
            <a:off x="6210300" y="40195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Mobile and device integration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9C71D4-1D63-4606-8E72-C84EFBDE05E3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Personalized workflows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CA808A-0E2C-42E9-8E04-7792C29BE688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4333875" cy="552450"/>
          </a:xfrm>
          <a:prstGeom prst="roundRect">
            <a:avLst>
              <a:gd name="adj" fmla="val 24138"/>
            </a:avLst>
          </a:prstGeom>
          <a:solidFill>
            <a:srgbClr val="0C2239"/>
          </a:solidFill>
          <a:ln w="9525">
            <a:solidFill>
              <a:srgbClr val="F4C66A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Security and permission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282A8F-3013-4F2E-8BC5-DAB82D0D2413}"/>
              </a:ext>
            </a:extLst>
          </p:cNvPr>
          <p:cNvSpPr>
            <a:spLocks noGrp="1"/>
          </p:cNvSpPr>
          <p:nvPr/>
        </p:nvSpPr>
        <p:spPr>
          <a:xfrm>
            <a:off x="1524000" y="586740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82392" lnSpcReduction="10000"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Future work can extend the assistant from command execution toward more context-aware and permission-aware automation.</a:t>
            </a:r>
          </a:p>
        </p:txBody>
      </p:sp>
    </p:spTree>
    <p:extLst>
      <p:ext uri="{BB962C8B-B14F-4D97-AF65-F5344CB8AC3E}">
        <p14:creationId xmlns:p14="http://schemas.microsoft.com/office/powerpoint/2010/main" val="72704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5AF8CB-BADE-4182-8909-7BAB096643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28591-2981-4A49-971A-E8481F0865F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4EFC4-270B-40A0-9DE6-91BBDC403B74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6991E8E-29FB-4F9C-9AB9-852EC44EE12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9E5CDD8-D4E9-4EEA-9BC4-50E5073EFE1A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90523-6831-4E6F-B779-2A8ABB79311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4D687-2682-4D24-9F5B-1FD0E31653FA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FD1B66-19C1-47F0-8213-DDC523642C20}"/>
              </a:ext>
            </a:extLst>
          </p:cNvPr>
          <p:cNvSpPr>
            <a:spLocks noGrp="1"/>
          </p:cNvSpPr>
          <p:nvPr/>
        </p:nvSpPr>
        <p:spPr>
          <a:xfrm>
            <a:off x="1143000" y="1666875"/>
            <a:ext cx="9906000" cy="904875"/>
          </a:xfrm>
          <a:prstGeom prst="roundRect">
            <a:avLst>
              <a:gd name="adj" fmla="val 14737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 demonstrates how Artificial Intelligence, speech recognition and desktop automation can be combined to create a more natural computer interaction 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81D467-BFD8-488C-B4F8-8DCDF35F4E70}"/>
              </a:ext>
            </a:extLst>
          </p:cNvPr>
          <p:cNvSpPr>
            <a:spLocks noGrp="1"/>
          </p:cNvSpPr>
          <p:nvPr/>
        </p:nvSpPr>
        <p:spPr>
          <a:xfrm>
            <a:off x="1143000" y="2971800"/>
            <a:ext cx="9906000" cy="781050"/>
          </a:xfrm>
          <a:prstGeom prst="roundRect">
            <a:avLst>
              <a:gd name="adj" fmla="val 17073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The system is designed to interpret user commands and translate them into practical computer actions, rather than only answering questions.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CD6611-7EE1-40D4-9479-BAA1D4C1DD6E}"/>
              </a:ext>
            </a:extLst>
          </p:cNvPr>
          <p:cNvSpPr>
            <a:spLocks noGrp="1"/>
          </p:cNvSpPr>
          <p:nvPr/>
        </p:nvSpPr>
        <p:spPr>
          <a:xfrm>
            <a:off x="1143000" y="4143375"/>
            <a:ext cx="9906000" cy="781050"/>
          </a:xfrm>
          <a:prstGeom prst="roundRect">
            <a:avLst>
              <a:gd name="adj" fmla="val 17073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and cloud AI providers offer a flexible architecture when configured, while modular automation skills support future expansion.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1DE639-D637-4395-AA6E-BE6022A16F08}"/>
              </a:ext>
            </a:extLst>
          </p:cNvPr>
          <p:cNvSpPr>
            <a:spLocks noGrp="1"/>
          </p:cNvSpPr>
          <p:nvPr/>
        </p:nvSpPr>
        <p:spPr>
          <a:xfrm>
            <a:off x="1714500" y="556260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JARVIS OS: intelligent assistance connected to practical desktop action.</a:t>
            </a:r>
          </a:p>
        </p:txBody>
      </p:sp>
    </p:spTree>
    <p:extLst>
      <p:ext uri="{BB962C8B-B14F-4D97-AF65-F5344CB8AC3E}">
        <p14:creationId xmlns:p14="http://schemas.microsoft.com/office/powerpoint/2010/main" val="1488696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7E1C23A-C8FB-4CB1-93E7-77EEFE9B64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F3EA5-D11B-4A00-B532-797B56F7FB9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DEMONSTRATION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154E76-FC40-47BA-B83E-1CCF7146A24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 – Live Demonstration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47F67F-B98A-46AA-ACBC-D3C6AFCC3D4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189D2D8-CA60-4A19-A7E4-ED7178F25898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11087100" cy="0"/>
          </a:xfrm>
          <a:prstGeom prst="line">
            <a:avLst/>
          </a:prstGeom>
          <a:noFill/>
          <a:ln w="9525">
            <a:solidFill>
              <a:srgbClr val="1C466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0CA36-5EE4-4AAC-8949-DAB9D5D5676A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BC4EF-15DD-4167-8025-146A40AF7005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7680"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03EF07-254C-4725-BD7C-946FE09327B9}"/>
              </a:ext>
            </a:extLst>
          </p:cNvPr>
          <p:cNvSpPr>
            <a:spLocks noGrp="1"/>
          </p:cNvSpPr>
          <p:nvPr/>
        </p:nvSpPr>
        <p:spPr>
          <a:xfrm>
            <a:off x="1066800" y="1524000"/>
            <a:ext cx="1571625" cy="523875"/>
          </a:xfrm>
          <a:prstGeom prst="roundRect">
            <a:avLst>
              <a:gd name="adj" fmla="val 25455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Speak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CC3090-E926-4879-BA13-371735430347}"/>
              </a:ext>
            </a:extLst>
          </p:cNvPr>
          <p:cNvSpPr>
            <a:spLocks noGrp="1"/>
          </p:cNvSpPr>
          <p:nvPr/>
        </p:nvSpPr>
        <p:spPr>
          <a:xfrm>
            <a:off x="3086100" y="1524000"/>
            <a:ext cx="1571625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2D7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cxnSp>
        <p:nvCxnSpPr>
          <p:cNvPr id="32" name="Straight Arrow Connector 31"/>
          <p:cNvCxnSpPr>
            <a:stCxn id="8" idx="3"/>
            <a:endCxn id="9" idx="1"/>
          </p:cNvCxnSpPr>
          <p:nvPr/>
        </p:nvCxnSpPr>
        <p:spPr>
          <a:xfrm>
            <a:off x="2638425" y="1785938"/>
            <a:ext cx="447675" cy="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C4BEE9-9D01-4469-A560-93BF41CF8659}"/>
              </a:ext>
            </a:extLst>
          </p:cNvPr>
          <p:cNvSpPr>
            <a:spLocks noGrp="1"/>
          </p:cNvSpPr>
          <p:nvPr/>
        </p:nvSpPr>
        <p:spPr>
          <a:xfrm>
            <a:off x="5105400" y="1524000"/>
            <a:ext cx="1571625" cy="523875"/>
          </a:xfrm>
          <a:prstGeom prst="roundRect">
            <a:avLst>
              <a:gd name="adj" fmla="val 25455"/>
            </a:avLst>
          </a:prstGeom>
          <a:solidFill>
            <a:srgbClr val="0C2239"/>
          </a:solidFill>
          <a:ln w="9525">
            <a:solidFill>
              <a:srgbClr val="8B6C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cxnSp>
        <p:nvCxnSpPr>
          <p:cNvPr id="34" name="Straight Arrow Connector 33"/>
          <p:cNvCxnSpPr>
            <a:stCxn id="9" idx="3"/>
            <a:endCxn id="11" idx="1"/>
          </p:cNvCxnSpPr>
          <p:nvPr/>
        </p:nvCxnSpPr>
        <p:spPr>
          <a:xfrm>
            <a:off x="4657725" y="1785938"/>
            <a:ext cx="447675" cy="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E2B2A7-86F8-4610-A74E-0EAB59841D60}"/>
              </a:ext>
            </a:extLst>
          </p:cNvPr>
          <p:cNvSpPr>
            <a:spLocks noGrp="1"/>
          </p:cNvSpPr>
          <p:nvPr/>
        </p:nvSpPr>
        <p:spPr>
          <a:xfrm>
            <a:off x="7124700" y="1524000"/>
            <a:ext cx="1571625" cy="523875"/>
          </a:xfrm>
          <a:prstGeom prst="roundRect">
            <a:avLst>
              <a:gd name="adj" fmla="val 25455"/>
            </a:avLst>
          </a:prstGeom>
          <a:solidFill>
            <a:srgbClr val="0A1B2E"/>
          </a:solidFill>
          <a:ln w="9525">
            <a:solidFill>
              <a:srgbClr val="6FE7B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cxnSp>
        <p:nvCxnSpPr>
          <p:cNvPr id="36" name="Straight Arrow Connector 35"/>
          <p:cNvCxnSpPr>
            <a:stCxn id="11" idx="3"/>
            <a:endCxn id="13" idx="1"/>
          </p:cNvCxnSpPr>
          <p:nvPr/>
        </p:nvCxnSpPr>
        <p:spPr>
          <a:xfrm>
            <a:off x="6677025" y="1785938"/>
            <a:ext cx="447675" cy="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940160-ADB0-479D-BDC2-72D4CB42BE3F}"/>
              </a:ext>
            </a:extLst>
          </p:cNvPr>
          <p:cNvSpPr>
            <a:spLocks noGrp="1"/>
          </p:cNvSpPr>
          <p:nvPr/>
        </p:nvSpPr>
        <p:spPr>
          <a:xfrm>
            <a:off x="9144000" y="1524000"/>
            <a:ext cx="1571625" cy="523875"/>
          </a:xfrm>
          <a:prstGeom prst="roundRect">
            <a:avLst>
              <a:gd name="adj" fmla="val 25455"/>
            </a:avLst>
          </a:prstGeom>
          <a:solidFill>
            <a:srgbClr val="0C2239"/>
          </a:solidFill>
          <a:ln w="9525">
            <a:solidFill>
              <a:srgbClr val="2BD9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cxnSp>
        <p:nvCxnSpPr>
          <p:cNvPr id="38" name="Straight Arrow Connector 37"/>
          <p:cNvCxnSpPr>
            <a:stCxn id="13" idx="3"/>
            <a:endCxn id="15" idx="1"/>
          </p:cNvCxnSpPr>
          <p:nvPr/>
        </p:nvCxnSpPr>
        <p:spPr>
          <a:xfrm>
            <a:off x="8696325" y="1785938"/>
            <a:ext cx="447675" cy="0"/>
          </a:xfrm>
          <a:prstGeom prst="straightConnector1">
            <a:avLst/>
          </a:prstGeom>
          <a:ln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FE485E9-81F1-445B-A4D3-BE5B4DE3AD1A}"/>
              </a:ext>
            </a:extLst>
          </p:cNvPr>
          <p:cNvSpPr>
            <a:spLocks noGrp="1"/>
          </p:cNvSpPr>
          <p:nvPr/>
        </p:nvSpPr>
        <p:spPr>
          <a:xfrm>
            <a:off x="895350" y="5476875"/>
            <a:ext cx="1038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Suggested live commands: status   |   open chrome and search for weather   |   set a 1 minute timer   |   voice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22D470-A71A-44CB-AE9F-0022644B4EE0}"/>
              </a:ext>
            </a:extLst>
          </p:cNvPr>
          <p:cNvSpPr>
            <a:spLocks noGrp="1"/>
          </p:cNvSpPr>
          <p:nvPr/>
        </p:nvSpPr>
        <p:spPr>
          <a:xfrm>
            <a:off x="2476500" y="5934075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156"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Replace placeholders with actual screenshots before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57003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548D3E-763A-4017-9029-C4A1DBABD9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BD9FF"/>
          </a:solidFill>
          <a:ln w="0">
            <a:solidFill>
              <a:srgbClr val="2BD9F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144233-49B4-4D5F-8B6A-70916298DDF9}"/>
              </a:ext>
            </a:extLst>
          </p:cNvPr>
          <p:cNvSpPr>
            <a:spLocks noGrp="1"/>
          </p:cNvSpPr>
          <p:nvPr/>
        </p:nvSpPr>
        <p:spPr>
          <a:xfrm>
            <a:off x="2571750" y="1485900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0970" lnSpcReduction="10000"/>
          </a:bodyPr>
          <a:lstStyle/>
          <a:p>
            <a:pPr algn="ctr">
              <a:lnSpc>
                <a:spcPct val="105000"/>
              </a:lnSpc>
              <a:buNone/>
              <a:defRPr sz="4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9BE65-2739-4251-AA21-BCC8492EF158}"/>
              </a:ext>
            </a:extLst>
          </p:cNvPr>
          <p:cNvSpPr>
            <a:spLocks noGrp="1"/>
          </p:cNvSpPr>
          <p:nvPr/>
        </p:nvSpPr>
        <p:spPr>
          <a:xfrm>
            <a:off x="2571750" y="2276475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8CEBFF"/>
                </a:solidFill>
                <a:latin typeface="Arial"/>
                <a:ea typeface="Arial"/>
                <a:cs typeface="Arial"/>
              </a:rPr>
              <a:t>Intelligent Voice-Controlled Desktop Assistant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AE580-EA9F-4CAD-A032-0B62913EA12D}"/>
              </a:ext>
            </a:extLst>
          </p:cNvPr>
          <p:cNvSpPr>
            <a:spLocks noGrp="1"/>
          </p:cNvSpPr>
          <p:nvPr/>
        </p:nvSpPr>
        <p:spPr>
          <a:xfrm>
            <a:off x="2571750" y="3324224"/>
            <a:ext cx="7048500" cy="622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Autofit/>
          </a:bodyPr>
          <a:lstStyle/>
          <a:p>
            <a:pPr algn="ctr">
              <a:lnSpc>
                <a:spcPct val="105000"/>
              </a:lnSpc>
              <a:buNone/>
              <a:defRPr sz="32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F3FA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3719E9-BF5D-4C2E-BC6E-562F41E29C2D}"/>
              </a:ext>
            </a:extLst>
          </p:cNvPr>
          <p:cNvSpPr>
            <a:spLocks noGrp="1"/>
          </p:cNvSpPr>
          <p:nvPr/>
        </p:nvSpPr>
        <p:spPr>
          <a:xfrm>
            <a:off x="2095500" y="6419850"/>
            <a:ext cx="800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</p:spTree>
    <p:extLst>
      <p:ext uri="{BB962C8B-B14F-4D97-AF65-F5344CB8AC3E}">
        <p14:creationId xmlns:p14="http://schemas.microsoft.com/office/powerpoint/2010/main" val="4454509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Jarvis Tech">
      <a:dk1>
        <a:srgbClr val="000000"/>
      </a:dk1>
      <a:lt1>
        <a:srgbClr val="FFFFFF"/>
      </a:lt1>
      <a:dk2>
        <a:srgbClr val="04101C"/>
      </a:dk2>
      <a:lt2>
        <a:srgbClr val="DCECF5"/>
      </a:lt2>
      <a:accent1>
        <a:srgbClr val="2BD9FF"/>
      </a:accent1>
      <a:accent2>
        <a:srgbClr val="2D7CFF"/>
      </a:accent2>
      <a:accent3>
        <a:srgbClr val="8B6CFF"/>
      </a:accent3>
      <a:accent4>
        <a:srgbClr val="6FE7B6"/>
      </a:accent4>
      <a:accent5>
        <a:srgbClr val="F4C66A"/>
      </a:accent5>
      <a:accent6>
        <a:srgbClr val="FF8191"/>
      </a:accent6>
      <a:hlink>
        <a:srgbClr val="2BD9FF"/>
      </a:hlink>
      <a:folHlink>
        <a:srgbClr val="8B6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arvis Te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Jarvis Tech">
      <a:dk1>
        <a:srgbClr val="000000"/>
      </a:dk1>
      <a:lt1>
        <a:srgbClr val="FFFFFF"/>
      </a:lt1>
      <a:dk2>
        <a:srgbClr val="04101C"/>
      </a:dk2>
      <a:lt2>
        <a:srgbClr val="DCECF5"/>
      </a:lt2>
      <a:accent1>
        <a:srgbClr val="2BD9FF"/>
      </a:accent1>
      <a:accent2>
        <a:srgbClr val="2D7CFF"/>
      </a:accent2>
      <a:accent3>
        <a:srgbClr val="8B6CFF"/>
      </a:accent3>
      <a:accent4>
        <a:srgbClr val="6FE7B6"/>
      </a:accent4>
      <a:accent5>
        <a:srgbClr val="F4C66A"/>
      </a:accent5>
      <a:accent6>
        <a:srgbClr val="FF8191"/>
      </a:accent6>
      <a:hlink>
        <a:srgbClr val="2BD9FF"/>
      </a:hlink>
      <a:folHlink>
        <a:srgbClr val="8B6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arvis Te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Office PowerPoint</Application>
  <DocSecurity>0</DocSecurity>
  <PresentationFormat>Widescreen</PresentationFormat>
  <Paragraphs>421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SHREYASH GODSE</cp:lastModifiedBy>
  <cp:revision>1</cp:revision>
  <dcterms:created xsi:type="dcterms:W3CDTF">2026-09-10T14:33:33Z</dcterms:created>
  <dcterms:modified xsi:type="dcterms:W3CDTF">2026-09-10T14:56:06Z</dcterms:modified>
</cp:coreProperties>
</file>